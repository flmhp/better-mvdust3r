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8"/>
        <p:guide pos="290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</a:t>
            </a:r>
            <a:endParaRPr lang="zh-CN" dirty="0"/>
          </a:p>
          <a:p>
            <a:endParaRPr lang="en-US" dirty="0"/>
          </a:p>
          <a:p>
            <a:r>
              <a:rPr lang="zh-CN" dirty="0"/>
              <a:t>本页用一句话定位项目：基于 MV-DUSt3R 构建从多图或视频输入到三维模型导出的工程化平台。</a:t>
            </a:r>
            <a:endParaRPr lang="zh-CN" dirty="0"/>
          </a:p>
          <a:p>
            <a:r>
              <a:rPr lang="zh-CN" dirty="0"/>
              <a:t>答辩重点不是重新讲一遍三维重建理论，而是证明系统、代码、测试、演示和复现材料已经闭环。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课程任务与项目定位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这页先把评分标准和项目交付物对齐，说明后续为什么重点讲工程闭环、代码接入和测试验证。</a:t>
            </a:r>
            <a:endParaRPr lang="zh-CN" dirty="0"/>
          </a:p>
          <a:p>
            <a:r>
              <a:rPr lang="zh-CN" dirty="0"/>
              <a:t>答辩中注意强调：项目不是只运行开源 Demo，而是围绕课程验收做了系统化接入和验证。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项目推进闭环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这一页说明项目不是期末临时拼接，而是从中期节点逐步推进到完整验收。</a:t>
            </a:r>
            <a:endParaRPr lang="zh-CN" dirty="0"/>
          </a:p>
          <a:p>
            <a:r>
              <a:rPr lang="zh-CN" dirty="0"/>
              <a:t>可以简要点出中期已完成的能力，并把期末重点落在完整测试和部署复现上。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技术路线选择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这一页把项目放回课程技术背景中。传统 SfM/MVS、NeRF 都可以讲，但最终选择 MV-DUSt3R 是因为它更适合多图到三维结构的课程要求。</a:t>
            </a:r>
            <a:endParaRPr lang="zh-CN" dirty="0"/>
          </a:p>
          <a:p>
            <a:r>
              <a:rPr lang="zh-CN" dirty="0"/>
              <a:t>注意不要说我们提出了全新的三维重建模型，应强调工程优化分支和完整平台。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技术路线总览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这页建立项目全局地图：输入、预处理、视图配对、推理、优化和导出。</a:t>
            </a:r>
            <a:endParaRPr lang="zh-CN" dirty="0"/>
          </a:p>
          <a:p>
            <a:r>
              <a:rPr lang="zh-CN" dirty="0"/>
              <a:t>后续讲 anchorlocal、AMP/OOM 和早停时，都回到这条链路中说明它们解决的是哪个环节的问题。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系统架构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这一页强调系统层次：交互、运行时、模型推理和输出验证。</a:t>
            </a:r>
            <a:endParaRPr lang="zh-CN" dirty="0"/>
          </a:p>
          <a:p>
            <a:r>
              <a:rPr lang="zh-CN" dirty="0"/>
              <a:t>答辩时要说明 Gradio 和 CLI 的关系：一个适合演示，一个适合批量复现实验，但核心运行时参数保持一致。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质量评分与预处理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这页把课程要求里的图片整理落到代码实现上。</a:t>
            </a:r>
            <a:endParaRPr lang="zh-CN" dirty="0"/>
          </a:p>
          <a:p>
            <a:r>
              <a:rPr lang="zh-CN" dirty="0"/>
              <a:t>说明质量评分不是为了替代所有人工判断，而是让输入退化场景在运行时有可解释、可记录的处理流程。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anchorlocal</a:t>
            </a:r>
            <a:endParaRPr lang="en-US" dirty="0"/>
          </a:p>
          <a:p>
            <a:endParaRPr lang="en-US" dirty="0"/>
          </a:p>
          <a:p>
            <a:r>
              <a:rPr lang="zh-CN" dirty="0"/>
              <a:t>这是答辩里最容易讲清楚的核心改动之一。</a:t>
            </a:r>
            <a:endParaRPr lang="zh-CN" dirty="0"/>
          </a:p>
          <a:p>
            <a:r>
              <a:rPr lang="zh-CN" dirty="0"/>
              <a:t>不要讲成模型结构创新，而是讲视图组织策略：complete graph 的 pair 数随图像数增长很快，anchorlocal 用高质量 anchor 和局部连边降低冗余。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Profile</a:t>
            </a:r>
            <a:endParaRPr lang="en-US" dirty="0"/>
          </a:p>
          <a:p>
            <a:endParaRPr lang="en-US" dirty="0"/>
          </a:p>
          <a:p>
            <a:r>
              <a:rPr lang="zh-CN" dirty="0"/>
              <a:t>这一页说明 lite_robust_v1 的作用不是某一个单独技巧，而是一组默认运行策略。</a:t>
            </a:r>
            <a:endParaRPr lang="zh-CN" dirty="0"/>
          </a:p>
          <a:p>
            <a:r>
              <a:rPr lang="zh-CN" dirty="0"/>
              <a:t>它统一 Demo、CLI 和报告测试口径，让现场演示和批量复现实验不需要维护两套参数。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低显存推理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这一页不要只说用了 AMP，要讲清楚 OOM 自动回退机制。</a:t>
            </a:r>
            <a:endParaRPr lang="zh-CN" dirty="0"/>
          </a:p>
          <a:p>
            <a:r>
              <a:rPr lang="zh-CN" dirty="0"/>
              <a:t>答辩重点是失败场景可控：显存不足时系统会降低 batch 重试，而不是直接终止。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全局优化与早停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这页说明全局优化早停的工程意义。</a:t>
            </a:r>
            <a:endParaRPr lang="zh-CN" dirty="0"/>
          </a:p>
          <a:p>
            <a:r>
              <a:rPr lang="zh-CN" dirty="0"/>
              <a:t>重点不是公式，而是 min_iter、check_every、rel_tol 和 patience 让优化过程可以被记录和解释。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稳健训练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这一页把鲁棒性从推理前处理扩展到训练脚本设计。</a:t>
            </a:r>
            <a:endParaRPr lang="zh-CN" dirty="0"/>
          </a:p>
          <a:p>
            <a:r>
              <a:rPr lang="zh-CN" dirty="0"/>
              <a:t>讲述时限定边界：课程项目范围内保留稳健训练脚本和 loss 权重设计，不夸大成新的 SOTA 训练范式。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完整测试设计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这一页说明测试不是只跑一个成功样例，而是覆盖了不同输入质量和不同验收角度。</a:t>
            </a:r>
            <a:endParaRPr lang="zh-CN" dirty="0"/>
          </a:p>
          <a:p>
            <a:r>
              <a:rPr lang="zh-CN" dirty="0"/>
              <a:t>四个数据组都使用 24 张图像，贴合课程要求中 20 到 50 张图片或现有数据集的要求。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成功率与精度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这一页直接给出报告中的真实数值。</a:t>
            </a:r>
            <a:endParaRPr lang="zh-CN" dirty="0"/>
          </a:p>
          <a:p>
            <a:r>
              <a:rPr lang="zh-CN" dirty="0"/>
              <a:t>低光照和混合噪声场景的下降不能回避，要解释为符合三维重建输入质量规律；项目目标是提升稳定性和可恢复性。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耗时与显存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这页用两组关键数字讲清楚优化价值：24 图耗时和显存都明显下降。</a:t>
            </a:r>
            <a:endParaRPr lang="zh-CN" dirty="0"/>
          </a:p>
          <a:p>
            <a:r>
              <a:rPr lang="zh-CN" dirty="0"/>
              <a:t>36 图显存从 18.9GB 降到 9.6GB，是说明普通 GPU 可完成流程的关键证据。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消融实验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这页不要把所有优化说成同等重要。</a:t>
            </a:r>
            <a:endParaRPr lang="zh-CN" dirty="0"/>
          </a:p>
          <a:p>
            <a:r>
              <a:rPr lang="zh-CN" dirty="0"/>
              <a:t>主结论应落在 anchorlocal 和 lite_robust_v1，AMP、OOM、早停和质量自适应是保证运行稳定性的组合机制。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现场演示与复现路径</a:t>
            </a:r>
            <a:endParaRPr lang="zh-CN" dirty="0"/>
          </a:p>
          <a:p>
            <a:endParaRPr lang="en-US" dirty="0"/>
          </a:p>
          <a:p>
            <a:r>
              <a:rPr lang="zh-CN" dirty="0"/>
              <a:t>这一页说明可运行、可复现、可演示。</a:t>
            </a:r>
            <a:endParaRPr lang="zh-CN" dirty="0"/>
          </a:p>
          <a:p>
            <a:r>
              <a:rPr lang="zh-CN" dirty="0"/>
              <a:t>答辩现场建议先展示预生成结果，再说明实时推理耗时和显存预案，避免把答辩风险押在实时运行上。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</a:t>
            </a:r>
            <a:r>
              <a:rPr altLang="zh-CN" dirty="0"/>
              <a:t>&amp;</a:t>
            </a:r>
            <a:r>
              <a:rPr lang="zh-CN" dirty="0"/>
              <a:t>分工</a:t>
            </a:r>
            <a:endParaRPr lang="en-US" dirty="0"/>
          </a:p>
          <a:p>
            <a:r>
              <a:rPr lang="zh-CN" dirty="0"/>
              <a:t>最后回到课程要求：完整系统、完整接入、完整验证和完整复现。</a:t>
            </a:r>
            <a:endParaRPr lang="zh-CN" dirty="0"/>
          </a:p>
          <a:p>
            <a:r>
              <a:rPr lang="zh-CN" dirty="0"/>
              <a:t>成员姓名需要在正式答辩前替换为真实姓名；这里先保留职责和交付物结构，方便对应成员贡献评分。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5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4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64.xml"/><Relationship Id="rId25" Type="http://schemas.openxmlformats.org/officeDocument/2006/relationships/tags" Target="../tags/tag63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3" Type="http://schemas.openxmlformats.org/officeDocument/2006/relationships/notesSlide" Target="../notesSlides/notesSlide5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114.xml"/><Relationship Id="rId50" Type="http://schemas.openxmlformats.org/officeDocument/2006/relationships/tags" Target="../tags/tag113.xml"/><Relationship Id="rId5" Type="http://schemas.openxmlformats.org/officeDocument/2006/relationships/tags" Target="../tags/tag68.xml"/><Relationship Id="rId49" Type="http://schemas.openxmlformats.org/officeDocument/2006/relationships/tags" Target="../tags/tag112.xml"/><Relationship Id="rId48" Type="http://schemas.openxmlformats.org/officeDocument/2006/relationships/tags" Target="../tags/tag111.xml"/><Relationship Id="rId47" Type="http://schemas.openxmlformats.org/officeDocument/2006/relationships/tags" Target="../tags/tag110.xml"/><Relationship Id="rId46" Type="http://schemas.openxmlformats.org/officeDocument/2006/relationships/tags" Target="../tags/tag109.xml"/><Relationship Id="rId45" Type="http://schemas.openxmlformats.org/officeDocument/2006/relationships/tags" Target="../tags/tag108.xml"/><Relationship Id="rId44" Type="http://schemas.openxmlformats.org/officeDocument/2006/relationships/tags" Target="../tags/tag107.xml"/><Relationship Id="rId43" Type="http://schemas.openxmlformats.org/officeDocument/2006/relationships/tags" Target="../tags/tag106.xml"/><Relationship Id="rId42" Type="http://schemas.openxmlformats.org/officeDocument/2006/relationships/tags" Target="../tags/tag105.xml"/><Relationship Id="rId41" Type="http://schemas.openxmlformats.org/officeDocument/2006/relationships/tags" Target="../tags/tag104.xml"/><Relationship Id="rId40" Type="http://schemas.openxmlformats.org/officeDocument/2006/relationships/tags" Target="../tags/tag103.xml"/><Relationship Id="rId4" Type="http://schemas.openxmlformats.org/officeDocument/2006/relationships/tags" Target="../tags/tag67.xml"/><Relationship Id="rId39" Type="http://schemas.openxmlformats.org/officeDocument/2006/relationships/tags" Target="../tags/tag102.xml"/><Relationship Id="rId38" Type="http://schemas.openxmlformats.org/officeDocument/2006/relationships/tags" Target="../tags/tag101.xml"/><Relationship Id="rId37" Type="http://schemas.openxmlformats.org/officeDocument/2006/relationships/tags" Target="../tags/tag100.xml"/><Relationship Id="rId36" Type="http://schemas.openxmlformats.org/officeDocument/2006/relationships/tags" Target="../tags/tag99.xml"/><Relationship Id="rId35" Type="http://schemas.openxmlformats.org/officeDocument/2006/relationships/tags" Target="../tags/tag98.xml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16.xml"/><Relationship Id="rId19" Type="http://schemas.openxmlformats.org/officeDocument/2006/relationships/image" Target="../media/image4.jpeg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rgbClr val="F7F9FC">
                <a:alpha val="88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" y="1104900"/>
              <a:ext cx="76200" cy="20764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95350" y="1016318"/>
            <a:ext cx="5740659" cy="3668077"/>
            <a:chOff x="895350" y="1016318"/>
            <a:chExt cx="5740659" cy="3668077"/>
          </a:xfrm>
        </p:grpSpPr>
        <p:sp>
          <p:nvSpPr>
            <p:cNvPr id="6" name="TextBox 6"/>
            <p:cNvSpPr txBox="1"/>
            <p:nvPr/>
          </p:nvSpPr>
          <p:spPr>
            <a:xfrm>
              <a:off x="895350" y="1016318"/>
              <a:ext cx="574065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17324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Better-MV-DUSt3R</a:t>
              </a:r>
              <a:endParaRPr lang="en-US" sz="435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9160" y="19431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多视图三维重建平台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2970" y="25955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设计、实现与测试验证</a:t>
              </a:r>
              <a:endParaRPr lang="zh-CN" sz="22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317182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5256" y="3444240"/>
              <a:ext cx="3909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进阶式挑战性综合项目 II 期末答辩</a:t>
              </a:r>
              <a:endParaRPr lang="zh-CN" sz="180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3950018"/>
              <a:ext cx="29108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指导教师：文军 完成时间：2026年6月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4391025"/>
              <a:ext cx="38370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A6A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github.com/FLmhp/better-mvdust3r</a:t>
              </a:r>
              <a:endParaRPr lang="en-US" sz="15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5314950"/>
            <a:ext cx="4048125" cy="400050"/>
            <a:chOff x="914400" y="5314950"/>
            <a:chExt cx="4048125" cy="400050"/>
          </a:xfrm>
        </p:grpSpPr>
        <p:sp>
          <p:nvSpPr>
            <p:cNvPr id="14" name="Freeform 14"/>
            <p:cNvSpPr/>
            <p:nvPr/>
          </p:nvSpPr>
          <p:spPr>
            <a:xfrm>
              <a:off x="914400" y="5314950"/>
              <a:ext cx="1285875" cy="400050"/>
            </a:xfrm>
            <a:custGeom>
              <a:avLst/>
              <a:gdLst/>
              <a:ahLst/>
              <a:cxnLst/>
              <a:rect l="l" t="t" r="r" b="b"/>
              <a:pathLst>
                <a:path w="1285875" h="400050">
                  <a:moveTo>
                    <a:pt x="38100" y="0"/>
                  </a:moveTo>
                  <a:lnTo>
                    <a:pt x="1247775" y="0"/>
                  </a:lnTo>
                  <a:cubicBezTo>
                    <a:pt x="1268817" y="0"/>
                    <a:pt x="1285875" y="17058"/>
                    <a:pt x="1285875" y="38100"/>
                  </a:cubicBezTo>
                  <a:lnTo>
                    <a:pt x="1285875" y="361950"/>
                  </a:lnTo>
                  <a:cubicBezTo>
                    <a:pt x="1285875" y="382992"/>
                    <a:pt x="1268817" y="400050"/>
                    <a:pt x="1247775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7473" y="5434489"/>
              <a:ext cx="1068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324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Python 3.12</a:t>
              </a:r>
              <a:endParaRPr lang="en-US" sz="128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362200" y="5314950"/>
              <a:ext cx="1143000" cy="400050"/>
            </a:xfrm>
            <a:custGeom>
              <a:avLst/>
              <a:gdLst/>
              <a:ahLst/>
              <a:cxnLst/>
              <a:rect l="l" t="t" r="r" b="b"/>
              <a:pathLst>
                <a:path w="1143000" h="40005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361950"/>
                  </a:lnTo>
                  <a:cubicBezTo>
                    <a:pt x="1143000" y="382992"/>
                    <a:pt x="1125942" y="400050"/>
                    <a:pt x="1104900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5273" y="5434489"/>
              <a:ext cx="907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324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CUDA 12.4</a:t>
              </a:r>
              <a:endParaRPr lang="en-US" sz="128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676650" y="5314950"/>
              <a:ext cx="1285875" cy="400050"/>
            </a:xfrm>
            <a:custGeom>
              <a:avLst/>
              <a:gdLst/>
              <a:ahLst/>
              <a:cxnLst/>
              <a:rect l="l" t="t" r="r" b="b"/>
              <a:pathLst>
                <a:path w="1285875" h="400050">
                  <a:moveTo>
                    <a:pt x="38100" y="0"/>
                  </a:moveTo>
                  <a:lnTo>
                    <a:pt x="1247775" y="0"/>
                  </a:lnTo>
                  <a:cubicBezTo>
                    <a:pt x="1268817" y="0"/>
                    <a:pt x="1285875" y="17058"/>
                    <a:pt x="1285875" y="38100"/>
                  </a:cubicBezTo>
                  <a:lnTo>
                    <a:pt x="1285875" y="361950"/>
                  </a:lnTo>
                  <a:cubicBezTo>
                    <a:pt x="1285875" y="382992"/>
                    <a:pt x="1268817" y="400050"/>
                    <a:pt x="1247775" y="400050"/>
                  </a:cubicBezTo>
                  <a:lnTo>
                    <a:pt x="38100" y="400050"/>
                  </a:lnTo>
                  <a:cubicBezTo>
                    <a:pt x="17058" y="400050"/>
                    <a:pt x="0" y="382992"/>
                    <a:pt x="0" y="3619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9723" y="5434489"/>
              <a:ext cx="1075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324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PyTorch 2.4</a:t>
              </a:r>
              <a:endParaRPr lang="en-US" sz="128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21" name="Line 2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1288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COURSE MAPPING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课程任务与项目定位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grpSp>
        <p:nvGrpSpPr>
          <p:cNvPr id="56" name="Group 56"/>
          <p:cNvGrpSpPr/>
          <p:nvPr>
            <p:custDataLst>
              <p:tags r:id="rId1"/>
            </p:custDataLst>
          </p:nvPr>
        </p:nvGrpSpPr>
        <p:grpSpPr>
          <a:xfrm>
            <a:off x="609600" y="1809750"/>
            <a:ext cx="10972800" cy="3790950"/>
            <a:chOff x="609600" y="1809750"/>
            <a:chExt cx="10972800" cy="3790950"/>
          </a:xfrm>
        </p:grpSpPr>
        <p:sp>
          <p:nvSpPr>
            <p:cNvPr id="16" name="Freeform 16"/>
            <p:cNvSpPr/>
            <p:nvPr>
              <p:custDataLst>
                <p:tags r:id="rId2"/>
              </p:custDataLst>
            </p:nvPr>
          </p:nvSpPr>
          <p:spPr>
            <a:xfrm>
              <a:off x="609600" y="18097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609600"/>
                  </a:lnTo>
                  <a:cubicBezTo>
                    <a:pt x="2857500" y="641163"/>
                    <a:pt x="2831913" y="666750"/>
                    <a:pt x="2800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17" name="Freeform 17"/>
            <p:cNvSpPr/>
            <p:nvPr>
              <p:custDataLst>
                <p:tags r:id="rId3"/>
              </p:custDataLst>
            </p:nvPr>
          </p:nvSpPr>
          <p:spPr>
            <a:xfrm>
              <a:off x="3581400" y="1809750"/>
              <a:ext cx="8001000" cy="666750"/>
            </a:xfrm>
            <a:custGeom>
              <a:avLst/>
              <a:gdLst/>
              <a:ahLst/>
              <a:cxnLst/>
              <a:rect l="l" t="t" r="r" b="b"/>
              <a:pathLst>
                <a:path w="8001000" h="666750">
                  <a:moveTo>
                    <a:pt x="57150" y="0"/>
                  </a:moveTo>
                  <a:lnTo>
                    <a:pt x="7943850" y="0"/>
                  </a:lnTo>
                  <a:cubicBezTo>
                    <a:pt x="7975413" y="0"/>
                    <a:pt x="8001000" y="25587"/>
                    <a:pt x="8001000" y="57150"/>
                  </a:cubicBezTo>
                  <a:lnTo>
                    <a:pt x="8001000" y="609600"/>
                  </a:lnTo>
                  <a:cubicBezTo>
                    <a:pt x="8001000" y="641163"/>
                    <a:pt x="7975413" y="666750"/>
                    <a:pt x="7943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52488" y="2043113"/>
              <a:ext cx="200026" cy="200026"/>
              <a:chOff x="852488" y="2043113"/>
              <a:chExt cx="200026" cy="200026"/>
            </a:xfrm>
          </p:grpSpPr>
          <p:sp>
            <p:nvSpPr>
              <p:cNvPr id="18" name="Freeform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941388" y="21320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9" name="Freeform 19"/>
              <p:cNvSpPr/>
              <p:nvPr>
                <p:custDataLst>
                  <p:tags r:id="rId5"/>
                </p:custDataLst>
              </p:nvPr>
            </p:nvSpPr>
            <p:spPr>
              <a:xfrm>
                <a:off x="896938" y="208756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0" name="Freeform 20"/>
              <p:cNvSpPr/>
              <p:nvPr>
                <p:custDataLst>
                  <p:tags r:id="rId6"/>
                </p:custDataLst>
              </p:nvPr>
            </p:nvSpPr>
            <p:spPr>
              <a:xfrm>
                <a:off x="852488" y="20431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22" name="TextBox 22"/>
            <p:cNvSpPr txBox="1"/>
            <p:nvPr>
              <p:custDataLst>
                <p:tags r:id="rId7"/>
              </p:custDataLst>
            </p:nvPr>
          </p:nvSpPr>
          <p:spPr>
            <a:xfrm>
              <a:off x="1191006" y="2025015"/>
              <a:ext cx="16093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7324D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Python / GPU</a:t>
              </a:r>
              <a:endParaRPr lang="en-US" sz="18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8"/>
              </p:custDataLst>
            </p:nvPr>
          </p:nvSpPr>
          <p:spPr>
            <a:xfrm>
              <a:off x="3820668" y="2041208"/>
              <a:ext cx="391731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Python 3.12、CUDA 12.4、PyTorch 2.4.1。</a:t>
              </a:r>
              <a:endPara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Freeform 24"/>
            <p:cNvSpPr/>
            <p:nvPr>
              <p:custDataLst>
                <p:tags r:id="rId9"/>
              </p:custDataLst>
            </p:nvPr>
          </p:nvSpPr>
          <p:spPr>
            <a:xfrm>
              <a:off x="609600" y="259080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609600"/>
                  </a:lnTo>
                  <a:cubicBezTo>
                    <a:pt x="2857500" y="641163"/>
                    <a:pt x="2831913" y="666750"/>
                    <a:pt x="2800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25" name="Freeform 25"/>
            <p:cNvSpPr/>
            <p:nvPr>
              <p:custDataLst>
                <p:tags r:id="rId10"/>
              </p:custDataLst>
            </p:nvPr>
          </p:nvSpPr>
          <p:spPr>
            <a:xfrm>
              <a:off x="3581400" y="2590800"/>
              <a:ext cx="8001000" cy="666750"/>
            </a:xfrm>
            <a:custGeom>
              <a:avLst/>
              <a:gdLst/>
              <a:ahLst/>
              <a:cxnLst/>
              <a:rect l="l" t="t" r="r" b="b"/>
              <a:pathLst>
                <a:path w="8001000" h="666750">
                  <a:moveTo>
                    <a:pt x="57150" y="0"/>
                  </a:moveTo>
                  <a:lnTo>
                    <a:pt x="7943850" y="0"/>
                  </a:lnTo>
                  <a:cubicBezTo>
                    <a:pt x="7975413" y="0"/>
                    <a:pt x="8001000" y="25587"/>
                    <a:pt x="8001000" y="57150"/>
                  </a:cubicBezTo>
                  <a:lnTo>
                    <a:pt x="8001000" y="609600"/>
                  </a:lnTo>
                  <a:cubicBezTo>
                    <a:pt x="8001000" y="641163"/>
                    <a:pt x="7975413" y="666750"/>
                    <a:pt x="7943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52488" y="2824163"/>
              <a:ext cx="200026" cy="200026"/>
              <a:chOff x="852488" y="2824163"/>
              <a:chExt cx="200026" cy="200026"/>
            </a:xfrm>
          </p:grpSpPr>
          <p:sp>
            <p:nvSpPr>
              <p:cNvPr id="26" name="Freeform 26"/>
              <p:cNvSpPr/>
              <p:nvPr>
                <p:custDataLst>
                  <p:tags r:id="rId11"/>
                </p:custDataLst>
              </p:nvPr>
            </p:nvSpPr>
            <p:spPr>
              <a:xfrm>
                <a:off x="941388" y="29130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7" name="Freeform 27"/>
              <p:cNvSpPr/>
              <p:nvPr>
                <p:custDataLst>
                  <p:tags r:id="rId12"/>
                </p:custDataLst>
              </p:nvPr>
            </p:nvSpPr>
            <p:spPr>
              <a:xfrm>
                <a:off x="896938" y="286861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8" name="Freeform 28"/>
              <p:cNvSpPr/>
              <p:nvPr>
                <p:custDataLst>
                  <p:tags r:id="rId13"/>
                </p:custDataLst>
              </p:nvPr>
            </p:nvSpPr>
            <p:spPr>
              <a:xfrm>
                <a:off x="852488" y="28241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30" name="TextBox 30"/>
            <p:cNvSpPr txBox="1"/>
            <p:nvPr>
              <p:custDataLst>
                <p:tags r:id="rId14"/>
              </p:custDataLst>
            </p:nvPr>
          </p:nvSpPr>
          <p:spPr>
            <a:xfrm>
              <a:off x="1191006" y="28060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从图片到模型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TextBox 31"/>
            <p:cNvSpPr txBox="1"/>
            <p:nvPr>
              <p:custDataLst>
                <p:tags r:id="rId15"/>
              </p:custDataLst>
            </p:nvPr>
          </p:nvSpPr>
          <p:spPr>
            <a:xfrm>
              <a:off x="3820668" y="2822258"/>
              <a:ext cx="62010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多图/视频输入 → 质量评分 → 推理 → 全局优化 → 点云/GLB。</a:t>
              </a:r>
              <a:endPara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2" name="Freeform 32"/>
            <p:cNvSpPr/>
            <p:nvPr>
              <p:custDataLst>
                <p:tags r:id="rId16"/>
              </p:custDataLst>
            </p:nvPr>
          </p:nvSpPr>
          <p:spPr>
            <a:xfrm>
              <a:off x="609600" y="33718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609600"/>
                  </a:lnTo>
                  <a:cubicBezTo>
                    <a:pt x="2857500" y="641163"/>
                    <a:pt x="2831913" y="666750"/>
                    <a:pt x="2800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33" name="Freeform 33"/>
            <p:cNvSpPr/>
            <p:nvPr>
              <p:custDataLst>
                <p:tags r:id="rId17"/>
              </p:custDataLst>
            </p:nvPr>
          </p:nvSpPr>
          <p:spPr>
            <a:xfrm>
              <a:off x="3581400" y="3371850"/>
              <a:ext cx="8001000" cy="666750"/>
            </a:xfrm>
            <a:custGeom>
              <a:avLst/>
              <a:gdLst/>
              <a:ahLst/>
              <a:cxnLst/>
              <a:rect l="l" t="t" r="r" b="b"/>
              <a:pathLst>
                <a:path w="8001000" h="666750">
                  <a:moveTo>
                    <a:pt x="57150" y="0"/>
                  </a:moveTo>
                  <a:lnTo>
                    <a:pt x="7943850" y="0"/>
                  </a:lnTo>
                  <a:cubicBezTo>
                    <a:pt x="7975413" y="0"/>
                    <a:pt x="8001000" y="25587"/>
                    <a:pt x="8001000" y="57150"/>
                  </a:cubicBezTo>
                  <a:lnTo>
                    <a:pt x="8001000" y="609600"/>
                  </a:lnTo>
                  <a:cubicBezTo>
                    <a:pt x="8001000" y="641163"/>
                    <a:pt x="7975413" y="666750"/>
                    <a:pt x="7943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52488" y="3605213"/>
              <a:ext cx="200026" cy="200026"/>
              <a:chOff x="852488" y="3605213"/>
              <a:chExt cx="200026" cy="200026"/>
            </a:xfrm>
          </p:grpSpPr>
          <p:sp>
            <p:nvSpPr>
              <p:cNvPr id="34" name="Freeform 34"/>
              <p:cNvSpPr/>
              <p:nvPr>
                <p:custDataLst>
                  <p:tags r:id="rId18"/>
                </p:custDataLst>
              </p:nvPr>
            </p:nvSpPr>
            <p:spPr>
              <a:xfrm>
                <a:off x="941388" y="36941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5" name="Freeform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896938" y="364966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6" name="Freeform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852488" y="36052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38" name="TextBox 38"/>
            <p:cNvSpPr txBox="1"/>
            <p:nvPr>
              <p:custDataLst>
                <p:tags r:id="rId21"/>
              </p:custDataLst>
            </p:nvPr>
          </p:nvSpPr>
          <p:spPr>
            <a:xfrm>
              <a:off x="1191006" y="35871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参考与创新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>
              <p:custDataLst>
                <p:tags r:id="rId22"/>
              </p:custDataLst>
            </p:nvPr>
          </p:nvSpPr>
          <p:spPr>
            <a:xfrm>
              <a:off x="3820668" y="3603308"/>
              <a:ext cx="46736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基于 DUSt3R/MV-DUSt3R，定位为工程优化</a:t>
              </a:r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项目。</a:t>
              </a:r>
              <a:endPara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Freeform 40"/>
            <p:cNvSpPr/>
            <p:nvPr>
              <p:custDataLst>
                <p:tags r:id="rId23"/>
              </p:custDataLst>
            </p:nvPr>
          </p:nvSpPr>
          <p:spPr>
            <a:xfrm>
              <a:off x="609600" y="415290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609600"/>
                  </a:lnTo>
                  <a:cubicBezTo>
                    <a:pt x="2857500" y="641163"/>
                    <a:pt x="2831913" y="666750"/>
                    <a:pt x="2800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41" name="Freeform 41"/>
            <p:cNvSpPr/>
            <p:nvPr>
              <p:custDataLst>
                <p:tags r:id="rId24"/>
              </p:custDataLst>
            </p:nvPr>
          </p:nvSpPr>
          <p:spPr>
            <a:xfrm>
              <a:off x="3581400" y="4152900"/>
              <a:ext cx="8001000" cy="666750"/>
            </a:xfrm>
            <a:custGeom>
              <a:avLst/>
              <a:gdLst/>
              <a:ahLst/>
              <a:cxnLst/>
              <a:rect l="l" t="t" r="r" b="b"/>
              <a:pathLst>
                <a:path w="8001000" h="666750">
                  <a:moveTo>
                    <a:pt x="57150" y="0"/>
                  </a:moveTo>
                  <a:lnTo>
                    <a:pt x="7943850" y="0"/>
                  </a:lnTo>
                  <a:cubicBezTo>
                    <a:pt x="7975413" y="0"/>
                    <a:pt x="8001000" y="25587"/>
                    <a:pt x="8001000" y="57150"/>
                  </a:cubicBezTo>
                  <a:lnTo>
                    <a:pt x="8001000" y="609600"/>
                  </a:lnTo>
                  <a:cubicBezTo>
                    <a:pt x="8001000" y="641163"/>
                    <a:pt x="7975413" y="666750"/>
                    <a:pt x="7943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52488" y="4386263"/>
              <a:ext cx="200026" cy="200026"/>
              <a:chOff x="852488" y="4386263"/>
              <a:chExt cx="200026" cy="200026"/>
            </a:xfrm>
          </p:grpSpPr>
          <p:sp>
            <p:nvSpPr>
              <p:cNvPr id="42" name="Freeform 42"/>
              <p:cNvSpPr/>
              <p:nvPr>
                <p:custDataLst>
                  <p:tags r:id="rId25"/>
                </p:custDataLst>
              </p:nvPr>
            </p:nvSpPr>
            <p:spPr>
              <a:xfrm>
                <a:off x="941388" y="44751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43" name="Freeform 43"/>
              <p:cNvSpPr/>
              <p:nvPr>
                <p:custDataLst>
                  <p:tags r:id="rId26"/>
                </p:custDataLst>
              </p:nvPr>
            </p:nvSpPr>
            <p:spPr>
              <a:xfrm>
                <a:off x="896938" y="443071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44" name="Freeform 44"/>
              <p:cNvSpPr/>
              <p:nvPr>
                <p:custDataLst>
                  <p:tags r:id="rId27"/>
                </p:custDataLst>
              </p:nvPr>
            </p:nvSpPr>
            <p:spPr>
              <a:xfrm>
                <a:off x="852488" y="43862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46" name="TextBox 46"/>
            <p:cNvSpPr txBox="1"/>
            <p:nvPr>
              <p:custDataLst>
                <p:tags r:id="rId28"/>
              </p:custDataLst>
            </p:nvPr>
          </p:nvSpPr>
          <p:spPr>
            <a:xfrm>
              <a:off x="1191006" y="4368165"/>
              <a:ext cx="120586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软件与报告 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7" name="TextBox 47"/>
            <p:cNvSpPr txBox="1"/>
            <p:nvPr>
              <p:custDataLst>
                <p:tags r:id="rId29"/>
              </p:custDataLst>
            </p:nvPr>
          </p:nvSpPr>
          <p:spPr>
            <a:xfrm>
              <a:off x="3820668" y="4384358"/>
              <a:ext cx="5474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仓库、Demo、CLI、图表、报告和部署脚本同一口径。</a:t>
              </a:r>
              <a:endPara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8" name="Freeform 48"/>
            <p:cNvSpPr/>
            <p:nvPr>
              <p:custDataLst>
                <p:tags r:id="rId30"/>
              </p:custDataLst>
            </p:nvPr>
          </p:nvSpPr>
          <p:spPr>
            <a:xfrm>
              <a:off x="609600" y="49339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57150" y="0"/>
                  </a:moveTo>
                  <a:lnTo>
                    <a:pt x="2800350" y="0"/>
                  </a:lnTo>
                  <a:cubicBezTo>
                    <a:pt x="2831913" y="0"/>
                    <a:pt x="2857500" y="25587"/>
                    <a:pt x="2857500" y="57150"/>
                  </a:cubicBezTo>
                  <a:lnTo>
                    <a:pt x="2857500" y="609600"/>
                  </a:lnTo>
                  <a:cubicBezTo>
                    <a:pt x="2857500" y="641163"/>
                    <a:pt x="2831913" y="666750"/>
                    <a:pt x="2800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49" name="Freeform 49"/>
            <p:cNvSpPr/>
            <p:nvPr>
              <p:custDataLst>
                <p:tags r:id="rId31"/>
              </p:custDataLst>
            </p:nvPr>
          </p:nvSpPr>
          <p:spPr>
            <a:xfrm>
              <a:off x="3581400" y="4933950"/>
              <a:ext cx="8001000" cy="666750"/>
            </a:xfrm>
            <a:custGeom>
              <a:avLst/>
              <a:gdLst/>
              <a:ahLst/>
              <a:cxnLst/>
              <a:rect l="l" t="t" r="r" b="b"/>
              <a:pathLst>
                <a:path w="8001000" h="666750">
                  <a:moveTo>
                    <a:pt x="57150" y="0"/>
                  </a:moveTo>
                  <a:lnTo>
                    <a:pt x="7943850" y="0"/>
                  </a:lnTo>
                  <a:cubicBezTo>
                    <a:pt x="7975413" y="0"/>
                    <a:pt x="8001000" y="25587"/>
                    <a:pt x="8001000" y="57150"/>
                  </a:cubicBezTo>
                  <a:lnTo>
                    <a:pt x="8001000" y="609600"/>
                  </a:lnTo>
                  <a:cubicBezTo>
                    <a:pt x="8001000" y="641163"/>
                    <a:pt x="7975413" y="666750"/>
                    <a:pt x="79438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52488" y="5167313"/>
              <a:ext cx="200026" cy="200026"/>
              <a:chOff x="852488" y="5167313"/>
              <a:chExt cx="200026" cy="200026"/>
            </a:xfrm>
          </p:grpSpPr>
          <p:sp>
            <p:nvSpPr>
              <p:cNvPr id="50" name="Freeform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941388" y="52562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51" name="Freeform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96938" y="521176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52" name="Freeform 52"/>
              <p:cNvSpPr/>
              <p:nvPr>
                <p:custDataLst>
                  <p:tags r:id="rId34"/>
                </p:custDataLst>
              </p:nvPr>
            </p:nvSpPr>
            <p:spPr>
              <a:xfrm>
                <a:off x="852488" y="51673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54" name="TextBox 54"/>
            <p:cNvSpPr txBox="1"/>
            <p:nvPr>
              <p:custDataLst>
                <p:tags r:id="rId35"/>
              </p:custDataLst>
            </p:nvPr>
          </p:nvSpPr>
          <p:spPr>
            <a:xfrm>
              <a:off x="1191006" y="5149215"/>
              <a:ext cx="120586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答辩与贡献 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5" name="TextBox 55"/>
            <p:cNvSpPr txBox="1"/>
            <p:nvPr>
              <p:custDataLst>
                <p:tags r:id="rId36"/>
              </p:custDataLst>
            </p:nvPr>
          </p:nvSpPr>
          <p:spPr>
            <a:xfrm>
              <a:off x="3820668" y="5165408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结构围绕设计、实现、结果、演示和成员贡献展开。</a:t>
              </a:r>
              <a:endPara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57" name="Line 5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673894"/>
            <a:chOff x="594360" y="335756"/>
            <a:chExt cx="10988040" cy="67389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784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PROGRESS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4953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从</a:t>
              </a:r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开题到期末：项目推进闭环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grpSp>
        <p:nvGrpSpPr>
          <p:cNvPr id="33" name="Group 33"/>
          <p:cNvGrpSpPr/>
          <p:nvPr>
            <p:custDataLst>
              <p:tags r:id="rId1"/>
            </p:custDataLst>
          </p:nvPr>
        </p:nvGrpSpPr>
        <p:grpSpPr>
          <a:xfrm>
            <a:off x="548792" y="2044065"/>
            <a:ext cx="11686261" cy="1573213"/>
            <a:chOff x="548792" y="2044065"/>
            <a:chExt cx="11686261" cy="1573213"/>
          </a:xfrm>
        </p:grpSpPr>
        <p:sp>
          <p:nvSpPr>
            <p:cNvPr id="7" name="Line 7"/>
            <p:cNvSpPr/>
            <p:nvPr>
              <p:custDataLst>
                <p:tags r:id="rId2"/>
              </p:custDataLst>
            </p:nvPr>
          </p:nvSpPr>
          <p:spPr>
            <a:xfrm>
              <a:off x="1066800" y="27622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19050">
              <a:solidFill>
                <a:srgbClr val="C8D4E0"/>
              </a:solidFill>
            </a:ln>
          </p:spPr>
        </p:sp>
        <p:sp>
          <p:nvSpPr>
            <p:cNvPr id="8" name="Ellipse 8"/>
            <p:cNvSpPr/>
            <p:nvPr>
              <p:custDataLst>
                <p:tags r:id="rId3"/>
              </p:custDataLst>
            </p:nvPr>
          </p:nvSpPr>
          <p:spPr>
            <a:xfrm>
              <a:off x="914400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9" name="Ellipse 9"/>
            <p:cNvSpPr/>
            <p:nvPr>
              <p:custDataLst>
                <p:tags r:id="rId4"/>
              </p:custDataLst>
            </p:nvPr>
          </p:nvSpPr>
          <p:spPr>
            <a:xfrm>
              <a:off x="1009650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0" name="TextBox 10"/>
            <p:cNvSpPr txBox="1"/>
            <p:nvPr>
              <p:custDataLst>
                <p:tags r:id="rId5"/>
              </p:custDataLst>
            </p:nvPr>
          </p:nvSpPr>
          <p:spPr>
            <a:xfrm>
              <a:off x="5487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需求分析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6"/>
              </p:custDataLst>
            </p:nvPr>
          </p:nvSpPr>
          <p:spPr>
            <a:xfrm>
              <a:off x="638302" y="2994343"/>
              <a:ext cx="857250" cy="622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课程任务、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数据输入、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验收指标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Ellipse 12"/>
            <p:cNvSpPr/>
            <p:nvPr>
              <p:custDataLst>
                <p:tags r:id="rId7"/>
              </p:custDataLst>
            </p:nvPr>
          </p:nvSpPr>
          <p:spPr>
            <a:xfrm>
              <a:off x="2924175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13" name="Ellipse 13"/>
            <p:cNvSpPr/>
            <p:nvPr>
              <p:custDataLst>
                <p:tags r:id="rId8"/>
              </p:custDataLst>
            </p:nvPr>
          </p:nvSpPr>
          <p:spPr>
            <a:xfrm>
              <a:off x="3019425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4" name="TextBox 14"/>
            <p:cNvSpPr txBox="1"/>
            <p:nvPr>
              <p:custDataLst>
                <p:tags r:id="rId9"/>
              </p:custDataLst>
            </p:nvPr>
          </p:nvSpPr>
          <p:spPr>
            <a:xfrm>
              <a:off x="2558567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设计接入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0"/>
              </p:custDataLst>
            </p:nvPr>
          </p:nvSpPr>
          <p:spPr>
            <a:xfrm>
              <a:off x="2009902" y="3106103"/>
              <a:ext cx="2365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Demo/CLI、runtime profile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Ellipse 16"/>
            <p:cNvSpPr/>
            <p:nvPr>
              <p:custDataLst>
                <p:tags r:id="rId11"/>
              </p:custDataLst>
            </p:nvPr>
          </p:nvSpPr>
          <p:spPr>
            <a:xfrm>
              <a:off x="4933950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17" name="Ellipse 17"/>
            <p:cNvSpPr/>
            <p:nvPr>
              <p:custDataLst>
                <p:tags r:id="rId12"/>
              </p:custDataLst>
            </p:nvPr>
          </p:nvSpPr>
          <p:spPr>
            <a:xfrm>
              <a:off x="5029200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8" name="TextBox 18"/>
            <p:cNvSpPr txBox="1"/>
            <p:nvPr>
              <p:custDataLst>
                <p:tags r:id="rId13"/>
              </p:custDataLst>
            </p:nvPr>
          </p:nvSpPr>
          <p:spPr>
            <a:xfrm>
              <a:off x="456834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核心实现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4425442" y="3128328"/>
              <a:ext cx="157289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anchorlocal、AMP、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OOM、早停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Ellipse 20"/>
            <p:cNvSpPr/>
            <p:nvPr>
              <p:custDataLst>
                <p:tags r:id="rId15"/>
              </p:custDataLst>
            </p:nvPr>
          </p:nvSpPr>
          <p:spPr>
            <a:xfrm>
              <a:off x="6943725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6"/>
              </p:custDataLst>
            </p:nvPr>
          </p:nvSpPr>
          <p:spPr>
            <a:xfrm>
              <a:off x="7038975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7"/>
              </p:custDataLst>
            </p:nvPr>
          </p:nvSpPr>
          <p:spPr>
            <a:xfrm>
              <a:off x="6578117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完整测试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8"/>
              </p:custDataLst>
            </p:nvPr>
          </p:nvSpPr>
          <p:spPr>
            <a:xfrm>
              <a:off x="6292342" y="313785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功能、性能、鲁棒性、消融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Ellipse 24"/>
            <p:cNvSpPr/>
            <p:nvPr>
              <p:custDataLst>
                <p:tags r:id="rId19"/>
              </p:custDataLst>
            </p:nvPr>
          </p:nvSpPr>
          <p:spPr>
            <a:xfrm>
              <a:off x="8953500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25" name="Ellipse 25"/>
            <p:cNvSpPr/>
            <p:nvPr>
              <p:custDataLst>
                <p:tags r:id="rId20"/>
              </p:custDataLst>
            </p:nvPr>
          </p:nvSpPr>
          <p:spPr>
            <a:xfrm>
              <a:off x="9048750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6" name="TextBox 26"/>
            <p:cNvSpPr txBox="1"/>
            <p:nvPr>
              <p:custDataLst>
                <p:tags r:id="rId21"/>
              </p:custDataLst>
            </p:nvPr>
          </p:nvSpPr>
          <p:spPr>
            <a:xfrm>
              <a:off x="85878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部署复现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22"/>
              </p:custDataLst>
            </p:nvPr>
          </p:nvSpPr>
          <p:spPr>
            <a:xfrm>
              <a:off x="8670417" y="3090863"/>
              <a:ext cx="143129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Docker、run.ps1、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command.tx</a:t>
              </a:r>
              <a:r>
                <a:rPr lang="en-US" alt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t</a:t>
              </a:r>
              <a:endParaRPr lang="en-US" alt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94192" y="3353752"/>
              <a:ext cx="127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en-US" sz="135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9" name="Ellipse 29"/>
            <p:cNvSpPr/>
            <p:nvPr>
              <p:custDataLst>
                <p:tags r:id="rId23"/>
              </p:custDataLst>
            </p:nvPr>
          </p:nvSpPr>
          <p:spPr>
            <a:xfrm>
              <a:off x="10963275" y="26098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A6"/>
              </a:solidFill>
            </a:ln>
          </p:spPr>
        </p:sp>
        <p:sp>
          <p:nvSpPr>
            <p:cNvPr id="30" name="Ellipse 30"/>
            <p:cNvSpPr/>
            <p:nvPr>
              <p:custDataLst>
                <p:tags r:id="rId24"/>
              </p:custDataLst>
            </p:nvPr>
          </p:nvSpPr>
          <p:spPr>
            <a:xfrm>
              <a:off x="11058525" y="270510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1" name="TextBox 31"/>
            <p:cNvSpPr txBox="1"/>
            <p:nvPr>
              <p:custDataLst>
                <p:tags r:id="rId25"/>
              </p:custDataLst>
            </p:nvPr>
          </p:nvSpPr>
          <p:spPr>
            <a:xfrm>
              <a:off x="10597667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答辩材料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2" name="TextBox 32"/>
            <p:cNvSpPr txBox="1"/>
            <p:nvPr>
              <p:custDataLst>
                <p:tags r:id="rId26"/>
              </p:custDataLst>
            </p:nvPr>
          </p:nvSpPr>
          <p:spPr>
            <a:xfrm>
              <a:off x="10403967" y="3130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7A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报告、图表、演示预案</a:t>
              </a:r>
              <a:endPara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" y="4476750"/>
            <a:ext cx="10591800" cy="1312545"/>
            <a:chOff x="800100" y="4476750"/>
            <a:chExt cx="10591800" cy="1312545"/>
          </a:xfrm>
        </p:grpSpPr>
        <p:sp>
          <p:nvSpPr>
            <p:cNvPr id="34" name="Freeform 34"/>
            <p:cNvSpPr/>
            <p:nvPr/>
          </p:nvSpPr>
          <p:spPr>
            <a:xfrm>
              <a:off x="800100" y="4476750"/>
              <a:ext cx="4953000" cy="1312545"/>
            </a:xfrm>
            <a:custGeom>
              <a:avLst/>
              <a:gdLst/>
              <a:ahLst/>
              <a:cxnLst/>
              <a:rect l="l" t="t" r="r" b="b"/>
              <a:pathLst>
                <a:path w="4953000" h="971550">
                  <a:moveTo>
                    <a:pt x="57150" y="0"/>
                  </a:moveTo>
                  <a:lnTo>
                    <a:pt x="4895850" y="0"/>
                  </a:lnTo>
                  <a:cubicBezTo>
                    <a:pt x="4927413" y="0"/>
                    <a:pt x="4953000" y="25587"/>
                    <a:pt x="4953000" y="57150"/>
                  </a:cubicBezTo>
                  <a:lnTo>
                    <a:pt x="4953000" y="914400"/>
                  </a:lnTo>
                  <a:cubicBezTo>
                    <a:pt x="4953000" y="945963"/>
                    <a:pt x="4927413" y="971550"/>
                    <a:pt x="4895850" y="971550"/>
                  </a:cubicBezTo>
                  <a:lnTo>
                    <a:pt x="57150" y="971550"/>
                  </a:lnTo>
                  <a:cubicBezTo>
                    <a:pt x="25587" y="971550"/>
                    <a:pt x="0" y="945963"/>
                    <a:pt x="0" y="914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8D4E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18794" y="4609148"/>
              <a:ext cx="123825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中期已完成</a:t>
              </a:r>
              <a:endPara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1080" y="5019675"/>
              <a:ext cx="476885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环境、权重、Demo/CLI、runtime profile、anchorlocal、</a:t>
              </a:r>
              <a:endParaRPr lang="zh-CN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50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OOM 回退、GO 早停初步接入</a:t>
              </a:r>
              <a:endParaRPr lang="zh-CN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38900" y="4476750"/>
              <a:ext cx="4953000" cy="1266190"/>
            </a:xfrm>
            <a:custGeom>
              <a:avLst/>
              <a:gdLst/>
              <a:ahLst/>
              <a:cxnLst/>
              <a:rect l="l" t="t" r="r" b="b"/>
              <a:pathLst>
                <a:path w="4953000" h="971550">
                  <a:moveTo>
                    <a:pt x="57150" y="0"/>
                  </a:moveTo>
                  <a:lnTo>
                    <a:pt x="4895850" y="0"/>
                  </a:lnTo>
                  <a:cubicBezTo>
                    <a:pt x="4927413" y="0"/>
                    <a:pt x="4953000" y="25587"/>
                    <a:pt x="4953000" y="57150"/>
                  </a:cubicBezTo>
                  <a:lnTo>
                    <a:pt x="4953000" y="914400"/>
                  </a:lnTo>
                  <a:cubicBezTo>
                    <a:pt x="4953000" y="945963"/>
                    <a:pt x="4927413" y="971550"/>
                    <a:pt x="4895850" y="971550"/>
                  </a:cubicBezTo>
                  <a:lnTo>
                    <a:pt x="57150" y="971550"/>
                  </a:lnTo>
                  <a:cubicBezTo>
                    <a:pt x="25587" y="971550"/>
                    <a:pt x="0" y="945963"/>
                    <a:pt x="0" y="914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7594" y="46091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A6A6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期末闭环</a:t>
              </a:r>
              <a:endParaRPr lang="zh-CN" sz="19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9880" y="5019675"/>
              <a:ext cx="43815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补齐功能、性能、鲁棒性、消融、部署和材料归档，</a:t>
              </a:r>
              <a:endParaRPr lang="zh-CN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50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形成同一套可复现口径</a:t>
              </a:r>
              <a:endParaRPr lang="zh-CN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41" name="Line 4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1103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ROUTE CHOICE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73445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技术路线选择：为什么是 MV-DUSt3R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466850"/>
            <a:ext cx="3429000" cy="3714750"/>
          </a:xfrm>
          <a:custGeom>
            <a:avLst/>
            <a:gdLst/>
            <a:ahLst/>
            <a:cxnLst/>
            <a:rect l="l" t="t" r="r" b="b"/>
            <a:pathLst>
              <a:path w="3429000" h="3714750">
                <a:moveTo>
                  <a:pt x="57150" y="0"/>
                </a:moveTo>
                <a:lnTo>
                  <a:pt x="3371850" y="0"/>
                </a:lnTo>
                <a:cubicBezTo>
                  <a:pt x="3403413" y="0"/>
                  <a:pt x="3429000" y="25587"/>
                  <a:pt x="3429000" y="57150"/>
                </a:cubicBezTo>
                <a:lnTo>
                  <a:pt x="3429000" y="3657600"/>
                </a:lnTo>
                <a:cubicBezTo>
                  <a:pt x="3429000" y="3689163"/>
                  <a:pt x="3403413" y="3714750"/>
                  <a:pt x="3371850" y="3714750"/>
                </a:cubicBezTo>
                <a:lnTo>
                  <a:pt x="57150" y="3714750"/>
                </a:lnTo>
                <a:cubicBezTo>
                  <a:pt x="25587" y="3714750"/>
                  <a:pt x="0" y="3689163"/>
                  <a:pt x="0" y="3657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902494" y="1812925"/>
            <a:ext cx="271462" cy="241299"/>
            <a:chOff x="902494" y="1812925"/>
            <a:chExt cx="271462" cy="241299"/>
          </a:xfrm>
        </p:grpSpPr>
        <p:sp>
          <p:nvSpPr>
            <p:cNvPr id="8" name="Freeform 8"/>
            <p:cNvSpPr/>
            <p:nvPr/>
          </p:nvSpPr>
          <p:spPr>
            <a:xfrm>
              <a:off x="902494" y="1812925"/>
              <a:ext cx="271462" cy="241299"/>
            </a:xfrm>
            <a:custGeom>
              <a:avLst/>
              <a:gdLst/>
              <a:ahLst/>
              <a:cxnLst/>
              <a:rect l="l" t="t" r="r" b="b"/>
              <a:pathLst>
                <a:path w="271462" h="241299">
                  <a:moveTo>
                    <a:pt x="30162" y="45244"/>
                  </a:moveTo>
                  <a:lnTo>
                    <a:pt x="45244" y="45244"/>
                  </a:lnTo>
                  <a:cubicBezTo>
                    <a:pt x="61902" y="45244"/>
                    <a:pt x="75406" y="31739"/>
                    <a:pt x="75406" y="15081"/>
                  </a:cubicBezTo>
                  <a:cubicBezTo>
                    <a:pt x="75406" y="6752"/>
                    <a:pt x="82158" y="0"/>
                    <a:pt x="90487" y="0"/>
                  </a:cubicBezTo>
                  <a:lnTo>
                    <a:pt x="180975" y="0"/>
                  </a:lnTo>
                  <a:cubicBezTo>
                    <a:pt x="189304" y="0"/>
                    <a:pt x="196056" y="6752"/>
                    <a:pt x="196056" y="15081"/>
                  </a:cubicBezTo>
                  <a:cubicBezTo>
                    <a:pt x="196056" y="31739"/>
                    <a:pt x="209560" y="45244"/>
                    <a:pt x="226218" y="45244"/>
                  </a:cubicBezTo>
                  <a:lnTo>
                    <a:pt x="241299" y="45244"/>
                  </a:lnTo>
                  <a:cubicBezTo>
                    <a:pt x="257958" y="45244"/>
                    <a:pt x="271462" y="58748"/>
                    <a:pt x="271462" y="75406"/>
                  </a:cubicBezTo>
                  <a:lnTo>
                    <a:pt x="271462" y="211137"/>
                  </a:lnTo>
                  <a:cubicBezTo>
                    <a:pt x="271462" y="227795"/>
                    <a:pt x="257958" y="241299"/>
                    <a:pt x="241299" y="241299"/>
                  </a:cubicBezTo>
                  <a:lnTo>
                    <a:pt x="30162" y="241299"/>
                  </a:lnTo>
                  <a:cubicBezTo>
                    <a:pt x="13504" y="241299"/>
                    <a:pt x="0" y="227795"/>
                    <a:pt x="0" y="211137"/>
                  </a:cubicBezTo>
                  <a:lnTo>
                    <a:pt x="0" y="75406"/>
                  </a:lnTo>
                  <a:cubicBezTo>
                    <a:pt x="0" y="58748"/>
                    <a:pt x="13504" y="45244"/>
                    <a:pt x="30162" y="45244"/>
                  </a:cubicBez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92981" y="1903412"/>
              <a:ext cx="90487" cy="90487"/>
            </a:xfrm>
            <a:custGeom>
              <a:avLst/>
              <a:gdLst/>
              <a:ahLst/>
              <a:cxnLst/>
              <a:rect l="l" t="t" r="r" b="b"/>
              <a:pathLst>
                <a:path w="90487" h="90487">
                  <a:moveTo>
                    <a:pt x="0" y="45244"/>
                  </a:moveTo>
                  <a:cubicBezTo>
                    <a:pt x="0" y="70231"/>
                    <a:pt x="20256" y="90487"/>
                    <a:pt x="45244" y="90487"/>
                  </a:cubicBezTo>
                  <a:cubicBezTo>
                    <a:pt x="70231" y="90487"/>
                    <a:pt x="90487" y="70231"/>
                    <a:pt x="90487" y="45244"/>
                  </a:cubicBezTo>
                  <a:cubicBezTo>
                    <a:pt x="90487" y="20256"/>
                    <a:pt x="70231" y="0"/>
                    <a:pt x="45244" y="0"/>
                  </a:cubicBezTo>
                  <a:cubicBezTo>
                    <a:pt x="20256" y="0"/>
                    <a:pt x="0" y="20256"/>
                    <a:pt x="0" y="45244"/>
                  </a:cubicBez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79982" y="1764030"/>
            <a:ext cx="15289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SfM / MVS</a:t>
            </a:r>
            <a:endParaRPr lang="en-US" sz="210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83030" y="21621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经典几何管线</a:t>
            </a:r>
            <a:endParaRPr lang="zh-CN" sz="150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3" name="Ellipse 13"/>
          <p:cNvSpPr/>
          <p:nvPr/>
        </p:nvSpPr>
        <p:spPr>
          <a:xfrm>
            <a:off x="914400" y="28098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96899" y="2744629"/>
            <a:ext cx="128816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依赖特征匹配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5" name="Ellipse 15"/>
          <p:cNvSpPr/>
          <p:nvPr/>
        </p:nvSpPr>
        <p:spPr>
          <a:xfrm>
            <a:off x="914400" y="32670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96899" y="3201829"/>
            <a:ext cx="10761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多阶段优化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7" name="Ellipse 17"/>
          <p:cNvSpPr/>
          <p:nvPr/>
        </p:nvSpPr>
        <p:spPr>
          <a:xfrm>
            <a:off x="914400" y="37242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96899" y="3659029"/>
            <a:ext cx="19242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解释性强但流程较重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4343400" y="1466850"/>
            <a:ext cx="3429000" cy="3714750"/>
          </a:xfrm>
          <a:custGeom>
            <a:avLst/>
            <a:gdLst/>
            <a:ahLst/>
            <a:cxnLst/>
            <a:rect l="l" t="t" r="r" b="b"/>
            <a:pathLst>
              <a:path w="3429000" h="3714750">
                <a:moveTo>
                  <a:pt x="57150" y="0"/>
                </a:moveTo>
                <a:lnTo>
                  <a:pt x="3371850" y="0"/>
                </a:lnTo>
                <a:cubicBezTo>
                  <a:pt x="3403413" y="0"/>
                  <a:pt x="3429000" y="25587"/>
                  <a:pt x="3429000" y="57150"/>
                </a:cubicBezTo>
                <a:lnTo>
                  <a:pt x="3429000" y="3657600"/>
                </a:lnTo>
                <a:cubicBezTo>
                  <a:pt x="3429000" y="3689163"/>
                  <a:pt x="3403413" y="3714750"/>
                  <a:pt x="3371850" y="3714750"/>
                </a:cubicBezTo>
                <a:lnTo>
                  <a:pt x="57150" y="3714750"/>
                </a:lnTo>
                <a:cubicBezTo>
                  <a:pt x="25587" y="3714750"/>
                  <a:pt x="0" y="3689163"/>
                  <a:pt x="0" y="3657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4651375" y="1812925"/>
            <a:ext cx="241299" cy="241299"/>
            <a:chOff x="4651375" y="1812925"/>
            <a:chExt cx="241299" cy="241299"/>
          </a:xfrm>
        </p:grpSpPr>
        <p:sp>
          <p:nvSpPr>
            <p:cNvPr id="20" name="Freeform 20"/>
            <p:cNvSpPr/>
            <p:nvPr/>
          </p:nvSpPr>
          <p:spPr>
            <a:xfrm>
              <a:off x="4651375" y="1812925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60325"/>
                  </a:moveTo>
                  <a:lnTo>
                    <a:pt x="0" y="30162"/>
                  </a:lnTo>
                  <a:cubicBezTo>
                    <a:pt x="0" y="13504"/>
                    <a:pt x="13504" y="0"/>
                    <a:pt x="30162" y="0"/>
                  </a:cubicBezTo>
                  <a:lnTo>
                    <a:pt x="60325" y="0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651375" y="1993899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0" y="30162"/>
                  </a:lnTo>
                  <a:cubicBezTo>
                    <a:pt x="0" y="46821"/>
                    <a:pt x="13504" y="60325"/>
                    <a:pt x="30162" y="60325"/>
                  </a:cubicBezTo>
                  <a:lnTo>
                    <a:pt x="60325" y="60325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832349" y="1812925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30162" y="0"/>
                  </a:lnTo>
                  <a:cubicBezTo>
                    <a:pt x="46821" y="0"/>
                    <a:pt x="60325" y="13504"/>
                    <a:pt x="60325" y="30162"/>
                  </a:cubicBezTo>
                  <a:lnTo>
                    <a:pt x="60325" y="60325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832349" y="1993899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60325"/>
                  </a:moveTo>
                  <a:lnTo>
                    <a:pt x="30162" y="60325"/>
                  </a:lnTo>
                  <a:cubicBezTo>
                    <a:pt x="46821" y="60325"/>
                    <a:pt x="60325" y="46821"/>
                    <a:pt x="60325" y="30162"/>
                  </a:cubicBezTo>
                  <a:lnTo>
                    <a:pt x="60325" y="0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772025" y="1903412"/>
              <a:ext cx="60325" cy="37703"/>
            </a:xfrm>
            <a:custGeom>
              <a:avLst/>
              <a:gdLst/>
              <a:ahLst/>
              <a:cxnLst/>
              <a:rect l="l" t="t" r="r" b="b"/>
              <a:pathLst>
                <a:path w="60325" h="37703">
                  <a:moveTo>
                    <a:pt x="0" y="37703"/>
                  </a:moveTo>
                  <a:lnTo>
                    <a:pt x="60325" y="0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711700" y="1865709"/>
              <a:ext cx="120650" cy="143272"/>
            </a:xfrm>
            <a:custGeom>
              <a:avLst/>
              <a:gdLst/>
              <a:ahLst/>
              <a:cxnLst/>
              <a:rect l="l" t="t" r="r" b="b"/>
              <a:pathLst>
                <a:path w="120650" h="143272">
                  <a:moveTo>
                    <a:pt x="0" y="37703"/>
                  </a:moveTo>
                  <a:lnTo>
                    <a:pt x="60325" y="75406"/>
                  </a:lnTo>
                  <a:lnTo>
                    <a:pt x="60325" y="143272"/>
                  </a:lnTo>
                  <a:lnTo>
                    <a:pt x="120650" y="105569"/>
                  </a:lnTo>
                  <a:lnTo>
                    <a:pt x="120650" y="37703"/>
                  </a:lnTo>
                  <a:lnTo>
                    <a:pt x="60325" y="0"/>
                  </a:lnTo>
                  <a:lnTo>
                    <a:pt x="0" y="37703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711700" y="1903412"/>
              <a:ext cx="60325" cy="105569"/>
            </a:xfrm>
            <a:custGeom>
              <a:avLst/>
              <a:gdLst/>
              <a:ahLst/>
              <a:cxnLst/>
              <a:rect l="l" t="t" r="r" b="b"/>
              <a:pathLst>
                <a:path w="60325" h="105569">
                  <a:moveTo>
                    <a:pt x="0" y="0"/>
                  </a:moveTo>
                  <a:lnTo>
                    <a:pt x="0" y="67865"/>
                  </a:lnTo>
                  <a:lnTo>
                    <a:pt x="60325" y="105569"/>
                  </a:lnTo>
                </a:path>
              </a:pathLst>
            </a:custGeom>
            <a:noFill/>
            <a:ln w="19050">
              <a:solidFill>
                <a:srgbClr val="17324D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5113782" y="1764030"/>
            <a:ext cx="70210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NeRF</a:t>
            </a:r>
            <a:endParaRPr lang="en-US" sz="210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116830" y="21621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隐式表示路线</a:t>
            </a:r>
            <a:endParaRPr lang="zh-CN" sz="150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0" name="Ellipse 30"/>
          <p:cNvSpPr/>
          <p:nvPr/>
        </p:nvSpPr>
        <p:spPr>
          <a:xfrm>
            <a:off x="4648200" y="28098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830699" y="2744629"/>
            <a:ext cx="150018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视角合成效果好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4648200" y="32670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830699" y="3201829"/>
            <a:ext cx="182882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训练/采样成本较高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4" name="Ellipse 34"/>
          <p:cNvSpPr/>
          <p:nvPr/>
        </p:nvSpPr>
        <p:spPr>
          <a:xfrm>
            <a:off x="4648200" y="3724275"/>
            <a:ext cx="76200" cy="76200"/>
          </a:xfrm>
          <a:prstGeom prst="ellipse">
            <a:avLst/>
          </a:prstGeom>
          <a:solidFill>
            <a:srgbClr val="C8D4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830699" y="3659029"/>
            <a:ext cx="19242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输出网格需额外处理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8077200" y="1466850"/>
            <a:ext cx="3750310" cy="3714750"/>
          </a:xfrm>
          <a:custGeom>
            <a:avLst/>
            <a:gdLst/>
            <a:ahLst/>
            <a:cxnLst/>
            <a:rect l="l" t="t" r="r" b="b"/>
            <a:pathLst>
              <a:path w="3429000" h="3714750">
                <a:moveTo>
                  <a:pt x="57150" y="0"/>
                </a:moveTo>
                <a:lnTo>
                  <a:pt x="3371850" y="0"/>
                </a:lnTo>
                <a:cubicBezTo>
                  <a:pt x="3403413" y="0"/>
                  <a:pt x="3429000" y="25587"/>
                  <a:pt x="3429000" y="57150"/>
                </a:cubicBezTo>
                <a:lnTo>
                  <a:pt x="3429000" y="3657600"/>
                </a:lnTo>
                <a:cubicBezTo>
                  <a:pt x="3429000" y="3689163"/>
                  <a:pt x="3403413" y="3714750"/>
                  <a:pt x="3371850" y="3714750"/>
                </a:cubicBezTo>
                <a:lnTo>
                  <a:pt x="57150" y="3714750"/>
                </a:lnTo>
                <a:cubicBezTo>
                  <a:pt x="25587" y="3714750"/>
                  <a:pt x="0" y="3689163"/>
                  <a:pt x="0" y="3657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0A6A6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8370094" y="1781420"/>
            <a:ext cx="271462" cy="304294"/>
            <a:chOff x="8370094" y="1781420"/>
            <a:chExt cx="271462" cy="304294"/>
          </a:xfrm>
        </p:grpSpPr>
        <p:sp>
          <p:nvSpPr>
            <p:cNvPr id="37" name="Freeform 37"/>
            <p:cNvSpPr/>
            <p:nvPr/>
          </p:nvSpPr>
          <p:spPr>
            <a:xfrm>
              <a:off x="8370094" y="1781420"/>
              <a:ext cx="271462" cy="304294"/>
            </a:xfrm>
            <a:custGeom>
              <a:avLst/>
              <a:gdLst/>
              <a:ahLst/>
              <a:cxnLst/>
              <a:rect l="l" t="t" r="r" b="b"/>
              <a:pathLst>
                <a:path w="271462" h="304294">
                  <a:moveTo>
                    <a:pt x="271462" y="212600"/>
                  </a:moveTo>
                  <a:lnTo>
                    <a:pt x="271462" y="91679"/>
                  </a:lnTo>
                  <a:cubicBezTo>
                    <a:pt x="271443" y="80967"/>
                    <a:pt x="265688" y="71086"/>
                    <a:pt x="256381" y="65784"/>
                  </a:cubicBezTo>
                  <a:lnTo>
                    <a:pt x="150812" y="5339"/>
                  </a:lnTo>
                  <a:cubicBezTo>
                    <a:pt x="141467" y="0"/>
                    <a:pt x="129995" y="0"/>
                    <a:pt x="120650" y="5339"/>
                  </a:cubicBezTo>
                  <a:lnTo>
                    <a:pt x="15081" y="65784"/>
                  </a:lnTo>
                  <a:cubicBezTo>
                    <a:pt x="5746" y="71138"/>
                    <a:pt x="0" y="81016"/>
                    <a:pt x="0" y="91694"/>
                  </a:cubicBezTo>
                  <a:lnTo>
                    <a:pt x="0" y="212615"/>
                  </a:lnTo>
                  <a:cubicBezTo>
                    <a:pt x="0" y="223308"/>
                    <a:pt x="5746" y="233171"/>
                    <a:pt x="15081" y="238509"/>
                  </a:cubicBezTo>
                  <a:lnTo>
                    <a:pt x="120650" y="298955"/>
                  </a:lnTo>
                  <a:cubicBezTo>
                    <a:pt x="129995" y="304294"/>
                    <a:pt x="141467" y="304294"/>
                    <a:pt x="150812" y="298955"/>
                  </a:cubicBezTo>
                  <a:lnTo>
                    <a:pt x="256381" y="238509"/>
                  </a:lnTo>
                  <a:cubicBezTo>
                    <a:pt x="265716" y="233156"/>
                    <a:pt x="271462" y="223277"/>
                    <a:pt x="271462" y="212600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505825" y="1933575"/>
              <a:ext cx="9525" cy="150812"/>
            </a:xfrm>
            <a:custGeom>
              <a:avLst/>
              <a:gdLst/>
              <a:ahLst/>
              <a:cxnLst/>
              <a:rect l="l" t="t" r="r" b="b"/>
              <a:pathLst>
                <a:path w="9525" h="150812">
                  <a:moveTo>
                    <a:pt x="0" y="1508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505825" y="1857565"/>
              <a:ext cx="131659" cy="76009"/>
            </a:xfrm>
            <a:custGeom>
              <a:avLst/>
              <a:gdLst/>
              <a:ahLst/>
              <a:cxnLst/>
              <a:rect l="l" t="t" r="r" b="b"/>
              <a:pathLst>
                <a:path w="131659" h="76009">
                  <a:moveTo>
                    <a:pt x="0" y="76009"/>
                  </a:moveTo>
                  <a:lnTo>
                    <a:pt x="131659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374166" y="1857565"/>
              <a:ext cx="131659" cy="76009"/>
            </a:xfrm>
            <a:custGeom>
              <a:avLst/>
              <a:gdLst/>
              <a:ahLst/>
              <a:cxnLst/>
              <a:rect l="l" t="t" r="r" b="b"/>
              <a:pathLst>
                <a:path w="131659" h="76009">
                  <a:moveTo>
                    <a:pt x="0" y="0"/>
                  </a:moveTo>
                  <a:lnTo>
                    <a:pt x="131659" y="76009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8847582" y="1764030"/>
            <a:ext cx="30053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DUSt3R / MV-DUSt3R</a:t>
            </a:r>
            <a:endParaRPr lang="en-US" sz="210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850630" y="21621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学习式几何预测</a:t>
            </a:r>
            <a:endParaRPr lang="zh-CN" sz="150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4" name="Ellipse 44"/>
          <p:cNvSpPr/>
          <p:nvPr/>
        </p:nvSpPr>
        <p:spPr>
          <a:xfrm>
            <a:off x="8382000" y="2809875"/>
            <a:ext cx="76200" cy="76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64499" y="2744629"/>
            <a:ext cx="192424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更贴近多图直接重建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6" name="Ellipse 46"/>
          <p:cNvSpPr/>
          <p:nvPr/>
        </p:nvSpPr>
        <p:spPr>
          <a:xfrm>
            <a:off x="8382000" y="3267075"/>
            <a:ext cx="76200" cy="76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564499" y="3201829"/>
            <a:ext cx="171221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保留全局对齐环节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8" name="Ellipse 48"/>
          <p:cNvSpPr/>
          <p:nvPr/>
        </p:nvSpPr>
        <p:spPr>
          <a:xfrm>
            <a:off x="8382000" y="3724275"/>
            <a:ext cx="76200" cy="76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564499" y="3659029"/>
            <a:ext cx="171221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适合课程工程闭环</a:t>
            </a:r>
            <a:endParaRPr lang="zh-CN" sz="158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8324850" y="4533900"/>
            <a:ext cx="2952750" cy="419100"/>
          </a:xfrm>
          <a:custGeom>
            <a:avLst/>
            <a:gdLst/>
            <a:ahLst/>
            <a:cxnLst/>
            <a:rect l="l" t="t" r="r" b="b"/>
            <a:pathLst>
              <a:path w="2952750" h="419100">
                <a:moveTo>
                  <a:pt x="38100" y="0"/>
                </a:moveTo>
                <a:lnTo>
                  <a:pt x="2914650" y="0"/>
                </a:lnTo>
                <a:cubicBezTo>
                  <a:pt x="2935692" y="0"/>
                  <a:pt x="2952750" y="17058"/>
                  <a:pt x="2952750" y="38100"/>
                </a:cubicBezTo>
                <a:lnTo>
                  <a:pt x="2952750" y="381000"/>
                </a:lnTo>
                <a:cubicBezTo>
                  <a:pt x="2952750" y="402042"/>
                  <a:pt x="2935692" y="419100"/>
                  <a:pt x="29146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489061" y="4646771"/>
            <a:ext cx="24315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本项目选择的课程实现路线</a:t>
            </a:r>
            <a:endParaRPr lang="zh-CN" sz="142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90956" y="5615940"/>
            <a:ext cx="94164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本项目</a:t>
            </a:r>
            <a:r>
              <a: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不是重写主干模型，而是在 MV-DUSt3R 基础上完成面向课程验收的工程优化和验证。</a:t>
            </a:r>
            <a:endParaRPr lang="zh-CN" sz="180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56" name="Group 56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53" name="Line 5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04/18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666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PIPELINE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2574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技术路线总览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4095750" y="1333500"/>
            <a:ext cx="7429500" cy="4305300"/>
          </a:xfrm>
          <a:custGeom>
            <a:avLst/>
            <a:gdLst/>
            <a:ahLst/>
            <a:cxnLst/>
            <a:rect l="l" t="t" r="r" b="b"/>
            <a:pathLst>
              <a:path w="7429500" h="4305300">
                <a:moveTo>
                  <a:pt x="57150" y="0"/>
                </a:moveTo>
                <a:lnTo>
                  <a:pt x="7372350" y="0"/>
                </a:lnTo>
                <a:cubicBezTo>
                  <a:pt x="7403913" y="0"/>
                  <a:pt x="7429500" y="25587"/>
                  <a:pt x="7429500" y="57150"/>
                </a:cubicBezTo>
                <a:lnTo>
                  <a:pt x="7429500" y="4248150"/>
                </a:lnTo>
                <a:cubicBezTo>
                  <a:pt x="7429500" y="4279713"/>
                  <a:pt x="7403913" y="4305300"/>
                  <a:pt x="7372350" y="4305300"/>
                </a:cubicBezTo>
                <a:lnTo>
                  <a:pt x="57150" y="4305300"/>
                </a:lnTo>
                <a:cubicBezTo>
                  <a:pt x="25587" y="4305300"/>
                  <a:pt x="0" y="4279713"/>
                  <a:pt x="0" y="424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1800" y="1428750"/>
            <a:ext cx="7101205" cy="4133850"/>
          </a:xfrm>
          <a:prstGeom prst="rect">
            <a:avLst/>
          </a:prstGeom>
        </p:spPr>
      </p:pic>
      <p:sp>
        <p:nvSpPr>
          <p:cNvPr id="9" name="Freeform 9"/>
          <p:cNvSpPr/>
          <p:nvPr>
            <p:custDataLst>
              <p:tags r:id="rId2"/>
            </p:custDataLst>
          </p:nvPr>
        </p:nvSpPr>
        <p:spPr>
          <a:xfrm>
            <a:off x="685800" y="142875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12" name="Group 12"/>
          <p:cNvGrpSpPr/>
          <p:nvPr>
            <p:custDataLst>
              <p:tags r:id="rId3"/>
            </p:custDataLst>
          </p:nvPr>
        </p:nvGrpSpPr>
        <p:grpSpPr>
          <a:xfrm>
            <a:off x="909638" y="1568450"/>
            <a:ext cx="200026" cy="177801"/>
            <a:chOff x="909638" y="1568450"/>
            <a:chExt cx="200026" cy="177801"/>
          </a:xfrm>
        </p:grpSpPr>
        <p:sp>
          <p:nvSpPr>
            <p:cNvPr id="10" name="Freeform 10"/>
            <p:cNvSpPr/>
            <p:nvPr>
              <p:custDataLst>
                <p:tags r:id="rId4"/>
              </p:custDataLst>
            </p:nvPr>
          </p:nvSpPr>
          <p:spPr>
            <a:xfrm>
              <a:off x="909638" y="156845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22225" y="33338"/>
                  </a:moveTo>
                  <a:lnTo>
                    <a:pt x="33338" y="33338"/>
                  </a:lnTo>
                  <a:cubicBezTo>
                    <a:pt x="45612" y="33338"/>
                    <a:pt x="55563" y="23387"/>
                    <a:pt x="55563" y="11113"/>
                  </a:cubicBezTo>
                  <a:cubicBezTo>
                    <a:pt x="55563" y="4975"/>
                    <a:pt x="60538" y="0"/>
                    <a:pt x="66675" y="0"/>
                  </a:cubicBezTo>
                  <a:lnTo>
                    <a:pt x="133350" y="0"/>
                  </a:lnTo>
                  <a:cubicBezTo>
                    <a:pt x="139488" y="0"/>
                    <a:pt x="144463" y="4975"/>
                    <a:pt x="144463" y="11113"/>
                  </a:cubicBezTo>
                  <a:cubicBezTo>
                    <a:pt x="144463" y="23387"/>
                    <a:pt x="154413" y="33338"/>
                    <a:pt x="166688" y="33338"/>
                  </a:cubicBezTo>
                  <a:lnTo>
                    <a:pt x="177801" y="33338"/>
                  </a:lnTo>
                  <a:cubicBezTo>
                    <a:pt x="190075" y="33338"/>
                    <a:pt x="200026" y="43288"/>
                    <a:pt x="200026" y="55563"/>
                  </a:cubicBezTo>
                  <a:lnTo>
                    <a:pt x="200026" y="155575"/>
                  </a:lnTo>
                  <a:cubicBezTo>
                    <a:pt x="200026" y="167850"/>
                    <a:pt x="190075" y="177801"/>
                    <a:pt x="177801" y="177801"/>
                  </a:cubicBezTo>
                  <a:lnTo>
                    <a:pt x="22225" y="177801"/>
                  </a:lnTo>
                  <a:cubicBezTo>
                    <a:pt x="9950" y="177801"/>
                    <a:pt x="0" y="167850"/>
                    <a:pt x="0" y="155575"/>
                  </a:cubicBezTo>
                  <a:lnTo>
                    <a:pt x="0" y="55563"/>
                  </a:lnTo>
                  <a:cubicBezTo>
                    <a:pt x="0" y="43288"/>
                    <a:pt x="9950" y="33338"/>
                    <a:pt x="22225" y="33338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1" name="Freeform 11"/>
            <p:cNvSpPr/>
            <p:nvPr>
              <p:custDataLst>
                <p:tags r:id="rId5"/>
              </p:custDataLst>
            </p:nvPr>
          </p:nvSpPr>
          <p:spPr>
            <a:xfrm>
              <a:off x="976313" y="16351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1806448" y="153257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输入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4" name="Line 14"/>
          <p:cNvSpPr/>
          <p:nvPr>
            <p:custDataLst>
              <p:tags r:id="rId7"/>
            </p:custDataLst>
          </p:nvPr>
        </p:nvSpPr>
        <p:spPr>
          <a:xfrm>
            <a:off x="2019300" y="19431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15" name="Polygon 15"/>
          <p:cNvSpPr/>
          <p:nvPr>
            <p:custDataLst>
              <p:tags r:id="rId8"/>
            </p:custDataLst>
          </p:nvPr>
        </p:nvSpPr>
        <p:spPr>
          <a:xfrm>
            <a:off x="1962150" y="2152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16" name="Freeform 16"/>
          <p:cNvSpPr/>
          <p:nvPr>
            <p:custDataLst>
              <p:tags r:id="rId9"/>
            </p:custDataLst>
          </p:nvPr>
        </p:nvSpPr>
        <p:spPr>
          <a:xfrm>
            <a:off x="685800" y="220980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26" name="Group 26"/>
          <p:cNvGrpSpPr/>
          <p:nvPr>
            <p:custDataLst>
              <p:tags r:id="rId10"/>
            </p:custDataLst>
          </p:nvPr>
        </p:nvGrpSpPr>
        <p:grpSpPr>
          <a:xfrm>
            <a:off x="920750" y="2349500"/>
            <a:ext cx="177801" cy="177801"/>
            <a:chOff x="920750" y="2349500"/>
            <a:chExt cx="177801" cy="177801"/>
          </a:xfrm>
        </p:grpSpPr>
        <p:sp>
          <p:nvSpPr>
            <p:cNvPr id="17" name="Freeform 17"/>
            <p:cNvSpPr/>
            <p:nvPr>
              <p:custDataLst>
                <p:tags r:id="rId11"/>
              </p:custDataLst>
            </p:nvPr>
          </p:nvSpPr>
          <p:spPr>
            <a:xfrm>
              <a:off x="920750" y="239395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8" name="Freeform 18"/>
            <p:cNvSpPr/>
            <p:nvPr>
              <p:custDataLst>
                <p:tags r:id="rId12"/>
              </p:custDataLst>
            </p:nvPr>
          </p:nvSpPr>
          <p:spPr>
            <a:xfrm>
              <a:off x="942975" y="2349500"/>
              <a:ext cx="9525" cy="44450"/>
            </a:xfrm>
            <a:custGeom>
              <a:avLst/>
              <a:gdLst/>
              <a:ahLst/>
              <a:cxnLst/>
              <a:rect l="l" t="t" r="r" b="b"/>
              <a:pathLst>
                <a:path w="9525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9" name="Freeform 19"/>
            <p:cNvSpPr/>
            <p:nvPr>
              <p:custDataLst>
                <p:tags r:id="rId13"/>
              </p:custDataLst>
            </p:nvPr>
          </p:nvSpPr>
          <p:spPr>
            <a:xfrm>
              <a:off x="942975" y="2438400"/>
              <a:ext cx="9525" cy="88900"/>
            </a:xfrm>
            <a:custGeom>
              <a:avLst/>
              <a:gdLst/>
              <a:ahLst/>
              <a:cxnLst/>
              <a:rect l="l" t="t" r="r" b="b"/>
              <a:pathLst>
                <a:path w="9525" h="88900">
                  <a:moveTo>
                    <a:pt x="0" y="0"/>
                  </a:moveTo>
                  <a:lnTo>
                    <a:pt x="0" y="8890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0" name="Freeform 20"/>
            <p:cNvSpPr/>
            <p:nvPr>
              <p:custDataLst>
                <p:tags r:id="rId14"/>
              </p:custDataLst>
            </p:nvPr>
          </p:nvSpPr>
          <p:spPr>
            <a:xfrm>
              <a:off x="987425" y="246062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1" name="Freeform 21"/>
            <p:cNvSpPr/>
            <p:nvPr>
              <p:custDataLst>
                <p:tags r:id="rId15"/>
              </p:custDataLst>
            </p:nvPr>
          </p:nvSpPr>
          <p:spPr>
            <a:xfrm>
              <a:off x="1009650" y="2349500"/>
              <a:ext cx="9525" cy="111125"/>
            </a:xfrm>
            <a:custGeom>
              <a:avLst/>
              <a:gdLst/>
              <a:ahLst/>
              <a:cxnLst/>
              <a:rect l="l" t="t" r="r" b="b"/>
              <a:pathLst>
                <a:path w="9525" h="111125">
                  <a:moveTo>
                    <a:pt x="0" y="0"/>
                  </a:moveTo>
                  <a:lnTo>
                    <a:pt x="0" y="111125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2" name="Freeform 22"/>
            <p:cNvSpPr/>
            <p:nvPr>
              <p:custDataLst>
                <p:tags r:id="rId16"/>
              </p:custDataLst>
            </p:nvPr>
          </p:nvSpPr>
          <p:spPr>
            <a:xfrm>
              <a:off x="1009650" y="2505076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3" name="Freeform 23"/>
            <p:cNvSpPr/>
            <p:nvPr>
              <p:custDataLst>
                <p:tags r:id="rId17"/>
              </p:custDataLst>
            </p:nvPr>
          </p:nvSpPr>
          <p:spPr>
            <a:xfrm>
              <a:off x="1054101" y="236061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4" name="Freeform 24"/>
            <p:cNvSpPr/>
            <p:nvPr>
              <p:custDataLst>
                <p:tags r:id="rId18"/>
              </p:custDataLst>
            </p:nvPr>
          </p:nvSpPr>
          <p:spPr>
            <a:xfrm>
              <a:off x="1076326" y="2349500"/>
              <a:ext cx="9525" cy="11113"/>
            </a:xfrm>
            <a:custGeom>
              <a:avLst/>
              <a:gdLst/>
              <a:ahLst/>
              <a:cxnLst/>
              <a:rect l="l" t="t" r="r" b="b"/>
              <a:pathLst>
                <a:path w="9525" h="11113">
                  <a:moveTo>
                    <a:pt x="0" y="0"/>
                  </a:move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5" name="Freeform 25"/>
            <p:cNvSpPr/>
            <p:nvPr>
              <p:custDataLst>
                <p:tags r:id="rId19"/>
              </p:custDataLst>
            </p:nvPr>
          </p:nvSpPr>
          <p:spPr>
            <a:xfrm>
              <a:off x="1076326" y="2405063"/>
              <a:ext cx="9525" cy="122238"/>
            </a:xfrm>
            <a:custGeom>
              <a:avLst/>
              <a:gdLst/>
              <a:ahLst/>
              <a:cxnLst/>
              <a:rect l="l" t="t" r="r" b="b"/>
              <a:pathLst>
                <a:path w="9525" h="122238">
                  <a:moveTo>
                    <a:pt x="0" y="0"/>
                  </a:moveTo>
                  <a:lnTo>
                    <a:pt x="0" y="122238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27" name="TextBox 27"/>
          <p:cNvSpPr txBox="1"/>
          <p:nvPr>
            <p:custDataLst>
              <p:tags r:id="rId20"/>
            </p:custDataLst>
          </p:nvPr>
        </p:nvSpPr>
        <p:spPr>
          <a:xfrm>
            <a:off x="1592453" y="2300287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质量评分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8" name="Line 28"/>
          <p:cNvSpPr/>
          <p:nvPr>
            <p:custDataLst>
              <p:tags r:id="rId21"/>
            </p:custDataLst>
          </p:nvPr>
        </p:nvSpPr>
        <p:spPr>
          <a:xfrm>
            <a:off x="2019300" y="27241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29" name="Polygon 29"/>
          <p:cNvSpPr/>
          <p:nvPr>
            <p:custDataLst>
              <p:tags r:id="rId22"/>
            </p:custDataLst>
          </p:nvPr>
        </p:nvSpPr>
        <p:spPr>
          <a:xfrm>
            <a:off x="1962150" y="2933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30" name="Freeform 30"/>
          <p:cNvSpPr/>
          <p:nvPr>
            <p:custDataLst>
              <p:tags r:id="rId23"/>
            </p:custDataLst>
          </p:nvPr>
        </p:nvSpPr>
        <p:spPr>
          <a:xfrm>
            <a:off x="685800" y="299085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34" name="Group 34"/>
          <p:cNvGrpSpPr/>
          <p:nvPr>
            <p:custDataLst>
              <p:tags r:id="rId24"/>
            </p:custDataLst>
          </p:nvPr>
        </p:nvGrpSpPr>
        <p:grpSpPr>
          <a:xfrm>
            <a:off x="909638" y="3119438"/>
            <a:ext cx="200025" cy="200025"/>
            <a:chOff x="909638" y="3119438"/>
            <a:chExt cx="200025" cy="200025"/>
          </a:xfrm>
        </p:grpSpPr>
        <p:sp>
          <p:nvSpPr>
            <p:cNvPr id="31" name="Freeform 31"/>
            <p:cNvSpPr/>
            <p:nvPr>
              <p:custDataLst>
                <p:tags r:id="rId25"/>
              </p:custDataLst>
            </p:nvPr>
          </p:nvSpPr>
          <p:spPr>
            <a:xfrm>
              <a:off x="909638" y="327501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22225"/>
                  </a:moveTo>
                  <a:cubicBezTo>
                    <a:pt x="0" y="34500"/>
                    <a:pt x="9950" y="44450"/>
                    <a:pt x="22225" y="44450"/>
                  </a:cubicBez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32" name="Freeform 32"/>
            <p:cNvSpPr/>
            <p:nvPr>
              <p:custDataLst>
                <p:tags r:id="rId26"/>
              </p:custDataLst>
            </p:nvPr>
          </p:nvSpPr>
          <p:spPr>
            <a:xfrm>
              <a:off x="1065213" y="31194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44450"/>
                  </a:moveTo>
                  <a:cubicBezTo>
                    <a:pt x="34500" y="44450"/>
                    <a:pt x="44450" y="34500"/>
                    <a:pt x="44450" y="22225"/>
                  </a:cubicBezTo>
                  <a:cubicBezTo>
                    <a:pt x="44450" y="9950"/>
                    <a:pt x="34500" y="0"/>
                    <a:pt x="22225" y="0"/>
                  </a:cubicBezTo>
                  <a:cubicBezTo>
                    <a:pt x="9950" y="0"/>
                    <a:pt x="0" y="9950"/>
                    <a:pt x="0" y="22225"/>
                  </a:cubicBezTo>
                  <a:cubicBezTo>
                    <a:pt x="0" y="34500"/>
                    <a:pt x="9950" y="44450"/>
                    <a:pt x="22225" y="44450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931863" y="3141663"/>
              <a:ext cx="166688" cy="155575"/>
            </a:xfrm>
            <a:custGeom>
              <a:avLst/>
              <a:gdLst/>
              <a:ahLst/>
              <a:cxnLst/>
              <a:rect l="l" t="t" r="r" b="b"/>
              <a:pathLst>
                <a:path w="166688" h="155575">
                  <a:moveTo>
                    <a:pt x="66675" y="155575"/>
                  </a:moveTo>
                  <a:lnTo>
                    <a:pt x="127794" y="155575"/>
                  </a:lnTo>
                  <a:cubicBezTo>
                    <a:pt x="149275" y="155575"/>
                    <a:pt x="166688" y="138162"/>
                    <a:pt x="166688" y="116682"/>
                  </a:cubicBezTo>
                  <a:cubicBezTo>
                    <a:pt x="166688" y="95201"/>
                    <a:pt x="149275" y="77788"/>
                    <a:pt x="127794" y="77788"/>
                  </a:cubicBezTo>
                  <a:lnTo>
                    <a:pt x="38894" y="77788"/>
                  </a:lnTo>
                  <a:cubicBezTo>
                    <a:pt x="17413" y="77788"/>
                    <a:pt x="0" y="60374"/>
                    <a:pt x="0" y="38894"/>
                  </a:cubicBezTo>
                  <a:cubicBezTo>
                    <a:pt x="0" y="17413"/>
                    <a:pt x="17413" y="0"/>
                    <a:pt x="38894" y="0"/>
                  </a:cubicBez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35" name="TextBox 35"/>
          <p:cNvSpPr txBox="1"/>
          <p:nvPr>
            <p:custDataLst>
              <p:tags r:id="rId28"/>
            </p:custDataLst>
          </p:nvPr>
        </p:nvSpPr>
        <p:spPr>
          <a:xfrm>
            <a:off x="1583563" y="3080067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视图配对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6" name="Line 36"/>
          <p:cNvSpPr/>
          <p:nvPr>
            <p:custDataLst>
              <p:tags r:id="rId29"/>
            </p:custDataLst>
          </p:nvPr>
        </p:nvSpPr>
        <p:spPr>
          <a:xfrm>
            <a:off x="2019300" y="35052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37" name="Polygon 37"/>
          <p:cNvSpPr/>
          <p:nvPr>
            <p:custDataLst>
              <p:tags r:id="rId30"/>
            </p:custDataLst>
          </p:nvPr>
        </p:nvSpPr>
        <p:spPr>
          <a:xfrm>
            <a:off x="1962150" y="37147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38" name="Freeform 38"/>
          <p:cNvSpPr/>
          <p:nvPr>
            <p:custDataLst>
              <p:tags r:id="rId31"/>
            </p:custDataLst>
          </p:nvPr>
        </p:nvSpPr>
        <p:spPr>
          <a:xfrm>
            <a:off x="685800" y="377190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49" name="Group 49"/>
          <p:cNvGrpSpPr/>
          <p:nvPr>
            <p:custDataLst>
              <p:tags r:id="rId32"/>
            </p:custDataLst>
          </p:nvPr>
        </p:nvGrpSpPr>
        <p:grpSpPr>
          <a:xfrm>
            <a:off x="909638" y="3900488"/>
            <a:ext cx="200025" cy="200025"/>
            <a:chOff x="909638" y="3900488"/>
            <a:chExt cx="200025" cy="200025"/>
          </a:xfrm>
        </p:grpSpPr>
        <p:sp>
          <p:nvSpPr>
            <p:cNvPr id="39" name="Freeform 39"/>
            <p:cNvSpPr/>
            <p:nvPr>
              <p:custDataLst>
                <p:tags r:id="rId33"/>
              </p:custDataLst>
            </p:nvPr>
          </p:nvSpPr>
          <p:spPr>
            <a:xfrm>
              <a:off x="931863" y="3922713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11113"/>
                  </a:moveTo>
                  <a:cubicBezTo>
                    <a:pt x="0" y="4975"/>
                    <a:pt x="4975" y="0"/>
                    <a:pt x="11113" y="0"/>
                  </a:cubicBezTo>
                  <a:lnTo>
                    <a:pt x="144463" y="0"/>
                  </a:lnTo>
                  <a:cubicBezTo>
                    <a:pt x="150600" y="0"/>
                    <a:pt x="155575" y="4975"/>
                    <a:pt x="155575" y="11113"/>
                  </a:cubicBezTo>
                  <a:lnTo>
                    <a:pt x="155575" y="144463"/>
                  </a:lnTo>
                  <a:cubicBezTo>
                    <a:pt x="155575" y="150600"/>
                    <a:pt x="150600" y="155575"/>
                    <a:pt x="144463" y="155575"/>
                  </a:cubicBezTo>
                  <a:lnTo>
                    <a:pt x="11113" y="155575"/>
                  </a:lnTo>
                  <a:cubicBezTo>
                    <a:pt x="4975" y="155575"/>
                    <a:pt x="0" y="150600"/>
                    <a:pt x="0" y="144463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0" name="Freeform 40"/>
            <p:cNvSpPr/>
            <p:nvPr>
              <p:custDataLst>
                <p:tags r:id="rId34"/>
              </p:custDataLst>
            </p:nvPr>
          </p:nvSpPr>
          <p:spPr>
            <a:xfrm>
              <a:off x="976313" y="3967163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1" name="Freeform 41"/>
            <p:cNvSpPr/>
            <p:nvPr>
              <p:custDataLst>
                <p:tags r:id="rId35"/>
              </p:custDataLst>
            </p:nvPr>
          </p:nvSpPr>
          <p:spPr>
            <a:xfrm>
              <a:off x="909638" y="39782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2" name="Freeform 42"/>
            <p:cNvSpPr/>
            <p:nvPr>
              <p:custDataLst>
                <p:tags r:id="rId36"/>
              </p:custDataLst>
            </p:nvPr>
          </p:nvSpPr>
          <p:spPr>
            <a:xfrm>
              <a:off x="909638" y="40227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0" y="0"/>
                  </a:moveTo>
                  <a:lnTo>
                    <a:pt x="22225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3" name="Freeform 43"/>
            <p:cNvSpPr/>
            <p:nvPr>
              <p:custDataLst>
                <p:tags r:id="rId37"/>
              </p:custDataLst>
            </p:nvPr>
          </p:nvSpPr>
          <p:spPr>
            <a:xfrm>
              <a:off x="987425" y="39004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4" name="Freeform 44"/>
            <p:cNvSpPr/>
            <p:nvPr>
              <p:custDataLst>
                <p:tags r:id="rId38"/>
              </p:custDataLst>
            </p:nvPr>
          </p:nvSpPr>
          <p:spPr>
            <a:xfrm>
              <a:off x="1031875" y="39004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0"/>
                  </a:moveTo>
                  <a:lnTo>
                    <a:pt x="0" y="22225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5" name="Freeform 45"/>
            <p:cNvSpPr/>
            <p:nvPr>
              <p:custDataLst>
                <p:tags r:id="rId39"/>
              </p:custDataLst>
            </p:nvPr>
          </p:nvSpPr>
          <p:spPr>
            <a:xfrm>
              <a:off x="1087438" y="397827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6" name="Freeform 46"/>
            <p:cNvSpPr/>
            <p:nvPr>
              <p:custDataLst>
                <p:tags r:id="rId40"/>
              </p:custDataLst>
            </p:nvPr>
          </p:nvSpPr>
          <p:spPr>
            <a:xfrm>
              <a:off x="1087438" y="4022725"/>
              <a:ext cx="22225" cy="9525"/>
            </a:xfrm>
            <a:custGeom>
              <a:avLst/>
              <a:gdLst/>
              <a:ahLst/>
              <a:cxnLst/>
              <a:rect l="l" t="t" r="r" b="b"/>
              <a:pathLst>
                <a:path w="22225" h="9525">
                  <a:moveTo>
                    <a:pt x="222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7" name="Freeform 47"/>
            <p:cNvSpPr/>
            <p:nvPr>
              <p:custDataLst>
                <p:tags r:id="rId41"/>
              </p:custDataLst>
            </p:nvPr>
          </p:nvSpPr>
          <p:spPr>
            <a:xfrm>
              <a:off x="1031875" y="40782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8" name="Freeform 48"/>
            <p:cNvSpPr/>
            <p:nvPr>
              <p:custDataLst>
                <p:tags r:id="rId42"/>
              </p:custDataLst>
            </p:nvPr>
          </p:nvSpPr>
          <p:spPr>
            <a:xfrm>
              <a:off x="987425" y="4078288"/>
              <a:ext cx="9525" cy="22225"/>
            </a:xfrm>
            <a:custGeom>
              <a:avLst/>
              <a:gdLst/>
              <a:ahLst/>
              <a:cxnLst/>
              <a:rect l="l" t="t" r="r" b="b"/>
              <a:pathLst>
                <a:path w="9525" h="22225">
                  <a:moveTo>
                    <a:pt x="0" y="222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50" name="TextBox 50"/>
          <p:cNvSpPr txBox="1"/>
          <p:nvPr>
            <p:custDataLst>
              <p:tags r:id="rId43"/>
            </p:custDataLst>
          </p:nvPr>
        </p:nvSpPr>
        <p:spPr>
          <a:xfrm>
            <a:off x="1592580" y="3879850"/>
            <a:ext cx="988060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模型推理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1" name="Line 51"/>
          <p:cNvSpPr/>
          <p:nvPr>
            <p:custDataLst>
              <p:tags r:id="rId44"/>
            </p:custDataLst>
          </p:nvPr>
        </p:nvSpPr>
        <p:spPr>
          <a:xfrm>
            <a:off x="2019300" y="42862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52" name="Polygon 52"/>
          <p:cNvSpPr/>
          <p:nvPr>
            <p:custDataLst>
              <p:tags r:id="rId45"/>
            </p:custDataLst>
          </p:nvPr>
        </p:nvSpPr>
        <p:spPr>
          <a:xfrm>
            <a:off x="1962150" y="449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53" name="Freeform 53"/>
          <p:cNvSpPr/>
          <p:nvPr>
            <p:custDataLst>
              <p:tags r:id="rId46"/>
            </p:custDataLst>
          </p:nvPr>
        </p:nvSpPr>
        <p:spPr>
          <a:xfrm>
            <a:off x="685800" y="455295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56" name="Group 56"/>
          <p:cNvGrpSpPr/>
          <p:nvPr>
            <p:custDataLst>
              <p:tags r:id="rId47"/>
            </p:custDataLst>
          </p:nvPr>
        </p:nvGrpSpPr>
        <p:grpSpPr>
          <a:xfrm>
            <a:off x="904759" y="4676659"/>
            <a:ext cx="209782" cy="209782"/>
            <a:chOff x="904759" y="4676659"/>
            <a:chExt cx="209782" cy="209782"/>
          </a:xfrm>
        </p:grpSpPr>
        <p:sp>
          <p:nvSpPr>
            <p:cNvPr id="54" name="Freeform 54"/>
            <p:cNvSpPr/>
            <p:nvPr>
              <p:custDataLst>
                <p:tags r:id="rId48"/>
              </p:custDataLst>
            </p:nvPr>
          </p:nvSpPr>
          <p:spPr>
            <a:xfrm>
              <a:off x="904759" y="4676659"/>
              <a:ext cx="209782" cy="209782"/>
            </a:xfrm>
            <a:custGeom>
              <a:avLst/>
              <a:gdLst/>
              <a:ahLst/>
              <a:cxnLst/>
              <a:rect l="l" t="t" r="r" b="b"/>
              <a:pathLst>
                <a:path w="209782" h="209782">
                  <a:moveTo>
                    <a:pt x="86278" y="19514"/>
                  </a:moveTo>
                  <a:cubicBezTo>
                    <a:pt x="91012" y="0"/>
                    <a:pt x="118771" y="0"/>
                    <a:pt x="123505" y="19514"/>
                  </a:cubicBezTo>
                  <a:cubicBezTo>
                    <a:pt x="124945" y="25459"/>
                    <a:pt x="129139" y="30360"/>
                    <a:pt x="134791" y="32701"/>
                  </a:cubicBezTo>
                  <a:cubicBezTo>
                    <a:pt x="140443" y="35043"/>
                    <a:pt x="146874" y="34544"/>
                    <a:pt x="152097" y="31360"/>
                  </a:cubicBezTo>
                  <a:cubicBezTo>
                    <a:pt x="169244" y="20914"/>
                    <a:pt x="188880" y="40539"/>
                    <a:pt x="178434" y="57696"/>
                  </a:cubicBezTo>
                  <a:cubicBezTo>
                    <a:pt x="175254" y="62918"/>
                    <a:pt x="174756" y="69343"/>
                    <a:pt x="177095" y="74992"/>
                  </a:cubicBezTo>
                  <a:cubicBezTo>
                    <a:pt x="179434" y="80640"/>
                    <a:pt x="184328" y="84833"/>
                    <a:pt x="190269" y="86278"/>
                  </a:cubicBezTo>
                  <a:cubicBezTo>
                    <a:pt x="209782" y="91012"/>
                    <a:pt x="209782" y="118771"/>
                    <a:pt x="190269" y="123505"/>
                  </a:cubicBezTo>
                  <a:cubicBezTo>
                    <a:pt x="184323" y="124945"/>
                    <a:pt x="179423" y="129139"/>
                    <a:pt x="177081" y="134791"/>
                  </a:cubicBezTo>
                  <a:cubicBezTo>
                    <a:pt x="174739" y="140443"/>
                    <a:pt x="175238" y="146874"/>
                    <a:pt x="178423" y="152097"/>
                  </a:cubicBezTo>
                  <a:cubicBezTo>
                    <a:pt x="188869" y="169244"/>
                    <a:pt x="169244" y="188880"/>
                    <a:pt x="152086" y="178434"/>
                  </a:cubicBezTo>
                  <a:cubicBezTo>
                    <a:pt x="146865" y="175254"/>
                    <a:pt x="140439" y="174756"/>
                    <a:pt x="134791" y="177095"/>
                  </a:cubicBezTo>
                  <a:cubicBezTo>
                    <a:pt x="129142" y="179434"/>
                    <a:pt x="124949" y="184328"/>
                    <a:pt x="123505" y="190269"/>
                  </a:cubicBezTo>
                  <a:cubicBezTo>
                    <a:pt x="118771" y="209782"/>
                    <a:pt x="91012" y="209782"/>
                    <a:pt x="86278" y="190269"/>
                  </a:cubicBezTo>
                  <a:cubicBezTo>
                    <a:pt x="84837" y="184323"/>
                    <a:pt x="80643" y="179423"/>
                    <a:pt x="74991" y="177081"/>
                  </a:cubicBezTo>
                  <a:cubicBezTo>
                    <a:pt x="69339" y="174739"/>
                    <a:pt x="62909" y="175238"/>
                    <a:pt x="57685" y="178423"/>
                  </a:cubicBezTo>
                  <a:cubicBezTo>
                    <a:pt x="40539" y="188869"/>
                    <a:pt x="20903" y="169244"/>
                    <a:pt x="31348" y="152086"/>
                  </a:cubicBezTo>
                  <a:cubicBezTo>
                    <a:pt x="34529" y="146865"/>
                    <a:pt x="35026" y="140439"/>
                    <a:pt x="32687" y="134791"/>
                  </a:cubicBezTo>
                  <a:cubicBezTo>
                    <a:pt x="30348" y="129142"/>
                    <a:pt x="25454" y="124949"/>
                    <a:pt x="19514" y="123505"/>
                  </a:cubicBezTo>
                  <a:cubicBezTo>
                    <a:pt x="0" y="118771"/>
                    <a:pt x="0" y="91012"/>
                    <a:pt x="19514" y="86278"/>
                  </a:cubicBezTo>
                  <a:cubicBezTo>
                    <a:pt x="25459" y="84837"/>
                    <a:pt x="30360" y="80643"/>
                    <a:pt x="32701" y="74991"/>
                  </a:cubicBezTo>
                  <a:cubicBezTo>
                    <a:pt x="35043" y="69339"/>
                    <a:pt x="34544" y="62909"/>
                    <a:pt x="31360" y="57685"/>
                  </a:cubicBezTo>
                  <a:cubicBezTo>
                    <a:pt x="20914" y="40539"/>
                    <a:pt x="40539" y="20903"/>
                    <a:pt x="57696" y="31348"/>
                  </a:cubicBezTo>
                  <a:cubicBezTo>
                    <a:pt x="68809" y="38105"/>
                    <a:pt x="83211" y="32126"/>
                    <a:pt x="86278" y="19514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5" name="Freeform 55"/>
            <p:cNvSpPr/>
            <p:nvPr>
              <p:custDataLst>
                <p:tags r:id="rId49"/>
              </p:custDataLst>
            </p:nvPr>
          </p:nvSpPr>
          <p:spPr>
            <a:xfrm>
              <a:off x="976313" y="4748213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57" name="TextBox 57"/>
          <p:cNvSpPr txBox="1"/>
          <p:nvPr>
            <p:custDataLst>
              <p:tags r:id="rId50"/>
            </p:custDataLst>
          </p:nvPr>
        </p:nvSpPr>
        <p:spPr>
          <a:xfrm>
            <a:off x="1585468" y="4635817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全局优化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8" name="Line 58"/>
          <p:cNvSpPr/>
          <p:nvPr>
            <p:custDataLst>
              <p:tags r:id="rId51"/>
            </p:custDataLst>
          </p:nvPr>
        </p:nvSpPr>
        <p:spPr>
          <a:xfrm>
            <a:off x="2019300" y="50673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962150" y="5276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685800" y="5334000"/>
            <a:ext cx="2667000" cy="457200"/>
          </a:xfrm>
          <a:custGeom>
            <a:avLst/>
            <a:gdLst/>
            <a:ahLst/>
            <a:cxnLst/>
            <a:rect l="l" t="t" r="r" b="b"/>
            <a:pathLst>
              <a:path w="2667000" h="457200">
                <a:moveTo>
                  <a:pt x="57150" y="0"/>
                </a:moveTo>
                <a:lnTo>
                  <a:pt x="2609850" y="0"/>
                </a:lnTo>
                <a:cubicBezTo>
                  <a:pt x="2641413" y="0"/>
                  <a:pt x="2667000" y="25587"/>
                  <a:pt x="2667000" y="57150"/>
                </a:cubicBezTo>
                <a:lnTo>
                  <a:pt x="2667000" y="400050"/>
                </a:lnTo>
                <a:cubicBezTo>
                  <a:pt x="2667000" y="431613"/>
                  <a:pt x="2641413" y="457200"/>
                  <a:pt x="2609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65" name="Group 65"/>
          <p:cNvGrpSpPr/>
          <p:nvPr/>
        </p:nvGrpSpPr>
        <p:grpSpPr>
          <a:xfrm>
            <a:off x="909638" y="5450486"/>
            <a:ext cx="200026" cy="224218"/>
            <a:chOff x="909638" y="5450486"/>
            <a:chExt cx="200026" cy="224218"/>
          </a:xfrm>
        </p:grpSpPr>
        <p:sp>
          <p:nvSpPr>
            <p:cNvPr id="61" name="Freeform 61"/>
            <p:cNvSpPr/>
            <p:nvPr/>
          </p:nvSpPr>
          <p:spPr>
            <a:xfrm>
              <a:off x="909638" y="5450486"/>
              <a:ext cx="200026" cy="224218"/>
            </a:xfrm>
            <a:custGeom>
              <a:avLst/>
              <a:gdLst/>
              <a:ahLst/>
              <a:cxnLst/>
              <a:rect l="l" t="t" r="r" b="b"/>
              <a:pathLst>
                <a:path w="200026" h="224218">
                  <a:moveTo>
                    <a:pt x="200026" y="156653"/>
                  </a:moveTo>
                  <a:lnTo>
                    <a:pt x="200026" y="67553"/>
                  </a:lnTo>
                  <a:cubicBezTo>
                    <a:pt x="200012" y="59660"/>
                    <a:pt x="195771" y="52379"/>
                    <a:pt x="188913" y="48473"/>
                  </a:cubicBezTo>
                  <a:lnTo>
                    <a:pt x="111125" y="3934"/>
                  </a:lnTo>
                  <a:cubicBezTo>
                    <a:pt x="104239" y="0"/>
                    <a:pt x="95786" y="0"/>
                    <a:pt x="88900" y="3934"/>
                  </a:cubicBezTo>
                  <a:lnTo>
                    <a:pt x="11113" y="48473"/>
                  </a:lnTo>
                  <a:cubicBezTo>
                    <a:pt x="4234" y="52418"/>
                    <a:pt x="0" y="59696"/>
                    <a:pt x="0" y="67564"/>
                  </a:cubicBezTo>
                  <a:lnTo>
                    <a:pt x="0" y="156664"/>
                  </a:lnTo>
                  <a:cubicBezTo>
                    <a:pt x="0" y="164543"/>
                    <a:pt x="4234" y="171811"/>
                    <a:pt x="11113" y="175745"/>
                  </a:cubicBezTo>
                  <a:lnTo>
                    <a:pt x="88900" y="220284"/>
                  </a:lnTo>
                  <a:cubicBezTo>
                    <a:pt x="95786" y="224218"/>
                    <a:pt x="104239" y="224218"/>
                    <a:pt x="111125" y="220284"/>
                  </a:cubicBezTo>
                  <a:lnTo>
                    <a:pt x="188913" y="175745"/>
                  </a:lnTo>
                  <a:cubicBezTo>
                    <a:pt x="195792" y="171800"/>
                    <a:pt x="200026" y="164521"/>
                    <a:pt x="200026" y="156653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09650" y="5562600"/>
              <a:ext cx="9525" cy="111125"/>
            </a:xfrm>
            <a:custGeom>
              <a:avLst/>
              <a:gdLst/>
              <a:ahLst/>
              <a:cxnLst/>
              <a:rect l="l" t="t" r="r" b="b"/>
              <a:pathLst>
                <a:path w="9525" h="111125">
                  <a:moveTo>
                    <a:pt x="0" y="1111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09650" y="5506593"/>
              <a:ext cx="97012" cy="56007"/>
            </a:xfrm>
            <a:custGeom>
              <a:avLst/>
              <a:gdLst/>
              <a:ahLst/>
              <a:cxnLst/>
              <a:rect l="l" t="t" r="r" b="b"/>
              <a:pathLst>
                <a:path w="97012" h="56007">
                  <a:moveTo>
                    <a:pt x="0" y="56007"/>
                  </a:moveTo>
                  <a:lnTo>
                    <a:pt x="97012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12638" y="5506593"/>
              <a:ext cx="97012" cy="56007"/>
            </a:xfrm>
            <a:custGeom>
              <a:avLst/>
              <a:gdLst/>
              <a:ahLst/>
              <a:cxnLst/>
              <a:rect l="l" t="t" r="r" b="b"/>
              <a:pathLst>
                <a:path w="97012" h="56007">
                  <a:moveTo>
                    <a:pt x="0" y="0"/>
                  </a:moveTo>
                  <a:lnTo>
                    <a:pt x="97012" y="56007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1589913" y="5429567"/>
            <a:ext cx="9901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GLB 输出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71" name="Group 71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68" name="Line 6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05/18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599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SYSTEM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68153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系统架构：入口、算法、优化、展示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2705735" y="1118235"/>
            <a:ext cx="6720205" cy="2717165"/>
          </a:xfrm>
          <a:custGeom>
            <a:avLst/>
            <a:gdLst/>
            <a:ahLst/>
            <a:cxnLst/>
            <a:rect l="l" t="t" r="r" b="b"/>
            <a:pathLst>
              <a:path w="10972800" h="2400300">
                <a:moveTo>
                  <a:pt x="57150" y="0"/>
                </a:moveTo>
                <a:lnTo>
                  <a:pt x="10915650" y="0"/>
                </a:lnTo>
                <a:cubicBezTo>
                  <a:pt x="10947213" y="0"/>
                  <a:pt x="10972800" y="25587"/>
                  <a:pt x="10972800" y="57150"/>
                </a:cubicBezTo>
                <a:lnTo>
                  <a:pt x="10972800" y="2343150"/>
                </a:lnTo>
                <a:cubicBezTo>
                  <a:pt x="10972800" y="2374713"/>
                  <a:pt x="10947213" y="2400300"/>
                  <a:pt x="10915650" y="2400300"/>
                </a:cubicBezTo>
                <a:lnTo>
                  <a:pt x="57150" y="2400300"/>
                </a:lnTo>
                <a:cubicBezTo>
                  <a:pt x="25587" y="2400300"/>
                  <a:pt x="0" y="2374713"/>
                  <a:pt x="0" y="2343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0" y="1112520"/>
            <a:ext cx="6685915" cy="2723515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609600" y="4000500"/>
            <a:ext cx="2552700" cy="1219200"/>
            <a:chOff x="609600" y="4000500"/>
            <a:chExt cx="2552700" cy="1219200"/>
          </a:xfrm>
        </p:grpSpPr>
        <p:sp>
          <p:nvSpPr>
            <p:cNvPr id="9" name="Freeform 9"/>
            <p:cNvSpPr/>
            <p:nvPr/>
          </p:nvSpPr>
          <p:spPr>
            <a:xfrm>
              <a:off x="609600" y="4000500"/>
              <a:ext cx="2552700" cy="1219200"/>
            </a:xfrm>
            <a:custGeom>
              <a:avLst/>
              <a:gdLst/>
              <a:ahLst/>
              <a:cxnLst/>
              <a:rect l="l" t="t" r="r" b="b"/>
              <a:pathLst>
                <a:path w="2552700" h="121920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162050"/>
                  </a:lnTo>
                  <a:cubicBezTo>
                    <a:pt x="2552700" y="1193613"/>
                    <a:pt x="2527113" y="1219200"/>
                    <a:pt x="2495550" y="1219200"/>
                  </a:cubicBezTo>
                  <a:lnTo>
                    <a:pt x="57150" y="1219200"/>
                  </a:lnTo>
                  <a:cubicBezTo>
                    <a:pt x="25587" y="1219200"/>
                    <a:pt x="0" y="1193613"/>
                    <a:pt x="0" y="11620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14388" y="4216400"/>
              <a:ext cx="200026" cy="187326"/>
              <a:chOff x="814388" y="4216400"/>
              <a:chExt cx="200026" cy="1873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14388" y="4216400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88913" y="0"/>
                    </a:lnTo>
                    <a:cubicBezTo>
                      <a:pt x="195050" y="0"/>
                      <a:pt x="200026" y="4975"/>
                      <a:pt x="200026" y="11113"/>
                    </a:cubicBezTo>
                    <a:lnTo>
                      <a:pt x="200026" y="122238"/>
                    </a:lnTo>
                    <a:cubicBezTo>
                      <a:pt x="200026" y="128375"/>
                      <a:pt x="195050" y="133350"/>
                      <a:pt x="18891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8838" y="43942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1063" y="43497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47738" y="43497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81063" y="42608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444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14400" y="4294188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7738" y="42830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4400" y="4294188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52906" y="41776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交互层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0100" y="461962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4692" y="4578668"/>
              <a:ext cx="195262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Gradio Demo，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多图/视频上传，结果预览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409950" y="4000500"/>
            <a:ext cx="2552700" cy="1219200"/>
            <a:chOff x="3409950" y="4000500"/>
            <a:chExt cx="2552700" cy="1219200"/>
          </a:xfrm>
        </p:grpSpPr>
        <p:sp>
          <p:nvSpPr>
            <p:cNvPr id="23" name="Freeform 23"/>
            <p:cNvSpPr/>
            <p:nvPr/>
          </p:nvSpPr>
          <p:spPr>
            <a:xfrm>
              <a:off x="3409950" y="4000500"/>
              <a:ext cx="2552700" cy="1219200"/>
            </a:xfrm>
            <a:custGeom>
              <a:avLst/>
              <a:gdLst/>
              <a:ahLst/>
              <a:cxnLst/>
              <a:rect l="l" t="t" r="r" b="b"/>
              <a:pathLst>
                <a:path w="2552700" h="121920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162050"/>
                  </a:lnTo>
                  <a:cubicBezTo>
                    <a:pt x="2552700" y="1193613"/>
                    <a:pt x="2527113" y="1219200"/>
                    <a:pt x="2495550" y="1219200"/>
                  </a:cubicBezTo>
                  <a:lnTo>
                    <a:pt x="57150" y="1219200"/>
                  </a:lnTo>
                  <a:cubicBezTo>
                    <a:pt x="25587" y="1219200"/>
                    <a:pt x="0" y="1193613"/>
                    <a:pt x="0" y="11620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609859" y="4200409"/>
              <a:ext cx="209782" cy="209782"/>
              <a:chOff x="3609859" y="4200409"/>
              <a:chExt cx="209782" cy="20978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609859" y="4200409"/>
                <a:ext cx="209782" cy="209782"/>
              </a:xfrm>
              <a:custGeom>
                <a:avLst/>
                <a:gdLst/>
                <a:ahLst/>
                <a:cxnLst/>
                <a:rect l="l" t="t" r="r" b="b"/>
                <a:pathLst>
                  <a:path w="209782" h="209782">
                    <a:moveTo>
                      <a:pt x="86278" y="19514"/>
                    </a:moveTo>
                    <a:cubicBezTo>
                      <a:pt x="91012" y="0"/>
                      <a:pt x="118771" y="0"/>
                      <a:pt x="123505" y="19514"/>
                    </a:cubicBezTo>
                    <a:cubicBezTo>
                      <a:pt x="124945" y="25459"/>
                      <a:pt x="129139" y="30360"/>
                      <a:pt x="134791" y="32701"/>
                    </a:cubicBezTo>
                    <a:cubicBezTo>
                      <a:pt x="140443" y="35043"/>
                      <a:pt x="146874" y="34544"/>
                      <a:pt x="152097" y="31360"/>
                    </a:cubicBezTo>
                    <a:cubicBezTo>
                      <a:pt x="169244" y="20914"/>
                      <a:pt x="188880" y="40539"/>
                      <a:pt x="178434" y="57696"/>
                    </a:cubicBezTo>
                    <a:cubicBezTo>
                      <a:pt x="175254" y="62918"/>
                      <a:pt x="174756" y="69343"/>
                      <a:pt x="177095" y="74992"/>
                    </a:cubicBezTo>
                    <a:cubicBezTo>
                      <a:pt x="179434" y="80640"/>
                      <a:pt x="184328" y="84833"/>
                      <a:pt x="190269" y="86278"/>
                    </a:cubicBezTo>
                    <a:cubicBezTo>
                      <a:pt x="209782" y="91012"/>
                      <a:pt x="209782" y="118771"/>
                      <a:pt x="190269" y="123505"/>
                    </a:cubicBezTo>
                    <a:cubicBezTo>
                      <a:pt x="184323" y="124945"/>
                      <a:pt x="179423" y="129139"/>
                      <a:pt x="177081" y="134791"/>
                    </a:cubicBezTo>
                    <a:cubicBezTo>
                      <a:pt x="174739" y="140443"/>
                      <a:pt x="175238" y="146874"/>
                      <a:pt x="178423" y="152097"/>
                    </a:cubicBezTo>
                    <a:cubicBezTo>
                      <a:pt x="188869" y="169244"/>
                      <a:pt x="169244" y="188880"/>
                      <a:pt x="152086" y="178434"/>
                    </a:cubicBezTo>
                    <a:cubicBezTo>
                      <a:pt x="146865" y="175254"/>
                      <a:pt x="140439" y="174756"/>
                      <a:pt x="134791" y="177095"/>
                    </a:cubicBezTo>
                    <a:cubicBezTo>
                      <a:pt x="129142" y="179434"/>
                      <a:pt x="124949" y="184328"/>
                      <a:pt x="123505" y="190269"/>
                    </a:cubicBezTo>
                    <a:cubicBezTo>
                      <a:pt x="118771" y="209782"/>
                      <a:pt x="91012" y="209782"/>
                      <a:pt x="86278" y="190269"/>
                    </a:cubicBezTo>
                    <a:cubicBezTo>
                      <a:pt x="84837" y="184323"/>
                      <a:pt x="80643" y="179423"/>
                      <a:pt x="74991" y="177081"/>
                    </a:cubicBezTo>
                    <a:cubicBezTo>
                      <a:pt x="69339" y="174739"/>
                      <a:pt x="62909" y="175238"/>
                      <a:pt x="57685" y="178423"/>
                    </a:cubicBezTo>
                    <a:cubicBezTo>
                      <a:pt x="40539" y="188869"/>
                      <a:pt x="20903" y="169244"/>
                      <a:pt x="31348" y="152086"/>
                    </a:cubicBezTo>
                    <a:cubicBezTo>
                      <a:pt x="34529" y="146865"/>
                      <a:pt x="35026" y="140439"/>
                      <a:pt x="32687" y="134791"/>
                    </a:cubicBezTo>
                    <a:cubicBezTo>
                      <a:pt x="30348" y="129142"/>
                      <a:pt x="25454" y="124949"/>
                      <a:pt x="19514" y="123505"/>
                    </a:cubicBezTo>
                    <a:cubicBezTo>
                      <a:pt x="0" y="118771"/>
                      <a:pt x="0" y="91012"/>
                      <a:pt x="19514" y="86278"/>
                    </a:cubicBezTo>
                    <a:cubicBezTo>
                      <a:pt x="25459" y="84837"/>
                      <a:pt x="30360" y="80643"/>
                      <a:pt x="32701" y="74991"/>
                    </a:cubicBezTo>
                    <a:cubicBezTo>
                      <a:pt x="35043" y="69339"/>
                      <a:pt x="34544" y="62909"/>
                      <a:pt x="31360" y="57685"/>
                    </a:cubicBezTo>
                    <a:cubicBezTo>
                      <a:pt x="20914" y="40539"/>
                      <a:pt x="40539" y="20903"/>
                      <a:pt x="57696" y="31348"/>
                    </a:cubicBezTo>
                    <a:cubicBezTo>
                      <a:pt x="68809" y="38105"/>
                      <a:pt x="83211" y="32126"/>
                      <a:pt x="86278" y="19514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81413" y="42719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953256" y="41776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运行时层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3600450" y="461962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65042" y="4578668"/>
              <a:ext cx="214757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runtime profile、质量评分、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scene graph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35322" y="4790440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policy</a:t>
              </a:r>
              <a:endParaRPr lang="en-US" sz="1350" dirty="0">
                <a:solidFill>
                  <a:srgbClr val="1B2430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10300" y="4000500"/>
            <a:ext cx="2552700" cy="1219200"/>
            <a:chOff x="6210300" y="4000500"/>
            <a:chExt cx="2552700" cy="1219200"/>
          </a:xfrm>
        </p:grpSpPr>
        <p:sp>
          <p:nvSpPr>
            <p:cNvPr id="32" name="Freeform 32"/>
            <p:cNvSpPr/>
            <p:nvPr/>
          </p:nvSpPr>
          <p:spPr>
            <a:xfrm>
              <a:off x="6210300" y="4000500"/>
              <a:ext cx="2552700" cy="1219200"/>
            </a:xfrm>
            <a:custGeom>
              <a:avLst/>
              <a:gdLst/>
              <a:ahLst/>
              <a:cxnLst/>
              <a:rect l="l" t="t" r="r" b="b"/>
              <a:pathLst>
                <a:path w="2552700" h="121920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162050"/>
                  </a:lnTo>
                  <a:cubicBezTo>
                    <a:pt x="2552700" y="1193613"/>
                    <a:pt x="2527113" y="1219200"/>
                    <a:pt x="2495550" y="1219200"/>
                  </a:cubicBezTo>
                  <a:lnTo>
                    <a:pt x="57150" y="1219200"/>
                  </a:lnTo>
                  <a:cubicBezTo>
                    <a:pt x="25587" y="1219200"/>
                    <a:pt x="0" y="1193613"/>
                    <a:pt x="0" y="11620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15088" y="4205288"/>
              <a:ext cx="200025" cy="200025"/>
              <a:chOff x="6415088" y="4205288"/>
              <a:chExt cx="200025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37313" y="422751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81763" y="42719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15088" y="42830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15088" y="43275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92875" y="42052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37325" y="42052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92888" y="42830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2888" y="43275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37325" y="43830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92875" y="438308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3606" y="41776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推理优化层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00800" y="461962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4578668"/>
              <a:ext cx="180848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MV-DUSt3R 成对预测、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AMP、OOM retry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010650" y="4000500"/>
            <a:ext cx="2552700" cy="1219200"/>
            <a:chOff x="9010650" y="4000500"/>
            <a:chExt cx="2552700" cy="1219200"/>
          </a:xfrm>
        </p:grpSpPr>
        <p:sp>
          <p:nvSpPr>
            <p:cNvPr id="48" name="Freeform 48"/>
            <p:cNvSpPr/>
            <p:nvPr/>
          </p:nvSpPr>
          <p:spPr>
            <a:xfrm>
              <a:off x="9010650" y="4000500"/>
              <a:ext cx="2552700" cy="1219200"/>
            </a:xfrm>
            <a:custGeom>
              <a:avLst/>
              <a:gdLst/>
              <a:ahLst/>
              <a:cxnLst/>
              <a:rect l="l" t="t" r="r" b="b"/>
              <a:pathLst>
                <a:path w="2552700" h="121920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162050"/>
                  </a:lnTo>
                  <a:cubicBezTo>
                    <a:pt x="2552700" y="1193613"/>
                    <a:pt x="2527113" y="1219200"/>
                    <a:pt x="2495550" y="1219200"/>
                  </a:cubicBezTo>
                  <a:lnTo>
                    <a:pt x="57150" y="1219200"/>
                  </a:lnTo>
                  <a:cubicBezTo>
                    <a:pt x="25587" y="1219200"/>
                    <a:pt x="0" y="1193613"/>
                    <a:pt x="0" y="11620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204325" y="4224068"/>
              <a:ext cx="222251" cy="147952"/>
            </a:xfrm>
            <a:custGeom>
              <a:avLst/>
              <a:gdLst/>
              <a:ahLst/>
              <a:cxnLst/>
              <a:rect l="l" t="t" r="r" b="b"/>
              <a:pathLst>
                <a:path w="222251" h="147952">
                  <a:moveTo>
                    <a:pt x="51751" y="147908"/>
                  </a:moveTo>
                  <a:cubicBezTo>
                    <a:pt x="23170" y="147908"/>
                    <a:pt x="0" y="125605"/>
                    <a:pt x="0" y="98090"/>
                  </a:cubicBezTo>
                  <a:cubicBezTo>
                    <a:pt x="0" y="70587"/>
                    <a:pt x="23170" y="48284"/>
                    <a:pt x="51751" y="48284"/>
                  </a:cubicBezTo>
                  <a:cubicBezTo>
                    <a:pt x="56118" y="28704"/>
                    <a:pt x="71687" y="12724"/>
                    <a:pt x="92590" y="6356"/>
                  </a:cubicBezTo>
                  <a:cubicBezTo>
                    <a:pt x="113481" y="0"/>
                    <a:pt x="136551" y="4212"/>
                    <a:pt x="153086" y="17469"/>
                  </a:cubicBezTo>
                  <a:cubicBezTo>
                    <a:pt x="169622" y="30693"/>
                    <a:pt x="177112" y="50884"/>
                    <a:pt x="172755" y="70465"/>
                  </a:cubicBezTo>
                  <a:lnTo>
                    <a:pt x="183757" y="70465"/>
                  </a:lnTo>
                  <a:cubicBezTo>
                    <a:pt x="205015" y="70465"/>
                    <a:pt x="222251" y="87800"/>
                    <a:pt x="222251" y="109203"/>
                  </a:cubicBezTo>
                  <a:cubicBezTo>
                    <a:pt x="222251" y="130617"/>
                    <a:pt x="205015" y="147952"/>
                    <a:pt x="183746" y="147952"/>
                  </a:cubicBezTo>
                  <a:lnTo>
                    <a:pt x="51751" y="147952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53956" y="41776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输出验证层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Ellipse 51"/>
            <p:cNvSpPr/>
            <p:nvPr/>
          </p:nvSpPr>
          <p:spPr>
            <a:xfrm>
              <a:off x="9201150" y="461962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65742" y="4578668"/>
              <a:ext cx="190627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点云/GLB、日志、指标、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部署脚本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4" name="Freeform 54"/>
          <p:cNvSpPr/>
          <p:nvPr/>
        </p:nvSpPr>
        <p:spPr>
          <a:xfrm>
            <a:off x="609600" y="5562600"/>
            <a:ext cx="10972800" cy="419100"/>
          </a:xfrm>
          <a:custGeom>
            <a:avLst/>
            <a:gdLst/>
            <a:ahLst/>
            <a:cxnLst/>
            <a:rect l="l" t="t" r="r" b="b"/>
            <a:pathLst>
              <a:path w="10972800" h="419100">
                <a:moveTo>
                  <a:pt x="38100" y="0"/>
                </a:moveTo>
                <a:lnTo>
                  <a:pt x="10934700" y="0"/>
                </a:lnTo>
                <a:cubicBezTo>
                  <a:pt x="10955742" y="0"/>
                  <a:pt x="10972800" y="17058"/>
                  <a:pt x="10972800" y="38100"/>
                </a:cubicBezTo>
                <a:lnTo>
                  <a:pt x="10972800" y="381000"/>
                </a:lnTo>
                <a:cubicBezTo>
                  <a:pt x="10972800" y="402042"/>
                  <a:pt x="10955742" y="419100"/>
                  <a:pt x="109347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0387" y="5652611"/>
            <a:ext cx="850039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Demo 与 CLI 不是两套割裂流程，而是共享运行时优化思想和输出验证口径。</a:t>
            </a:r>
            <a:endParaRPr lang="zh-CN" sz="172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59" name="Group 59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56" name="Line 5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06/18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649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QUALITY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输入质量评分与轻量预处理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675894" y="11229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输入问题</a:t>
            </a:r>
            <a:endParaRPr lang="zh-CN" sz="19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85800" y="1695450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57150" y="0"/>
                </a:moveTo>
                <a:lnTo>
                  <a:pt x="2514600" y="0"/>
                </a:lnTo>
                <a:cubicBezTo>
                  <a:pt x="2546163" y="0"/>
                  <a:pt x="2571750" y="25587"/>
                  <a:pt x="2571750" y="57150"/>
                </a:cubicBezTo>
                <a:lnTo>
                  <a:pt x="2571750" y="552450"/>
                </a:lnTo>
                <a:cubicBezTo>
                  <a:pt x="2571750" y="584013"/>
                  <a:pt x="2546163" y="609600"/>
                  <a:pt x="251460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86968" y="18792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模糊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79092" y="19116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清晰度下降</a:t>
            </a:r>
            <a:endParaRPr lang="zh-CN" sz="135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85800" y="2495550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57150" y="0"/>
                </a:moveTo>
                <a:lnTo>
                  <a:pt x="2514600" y="0"/>
                </a:lnTo>
                <a:cubicBezTo>
                  <a:pt x="2546163" y="0"/>
                  <a:pt x="2571750" y="25587"/>
                  <a:pt x="2571750" y="57150"/>
                </a:cubicBezTo>
                <a:lnTo>
                  <a:pt x="2571750" y="552450"/>
                </a:lnTo>
                <a:cubicBezTo>
                  <a:pt x="2571750" y="584013"/>
                  <a:pt x="2546163" y="609600"/>
                  <a:pt x="251460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86968" y="2679382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低光照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79092" y="27117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纹理弱</a:t>
            </a:r>
            <a:endParaRPr lang="zh-CN" sz="135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85800" y="3295650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57150" y="0"/>
                </a:moveTo>
                <a:lnTo>
                  <a:pt x="2514600" y="0"/>
                </a:lnTo>
                <a:cubicBezTo>
                  <a:pt x="2546163" y="0"/>
                  <a:pt x="2571750" y="25587"/>
                  <a:pt x="2571750" y="57150"/>
                </a:cubicBezTo>
                <a:lnTo>
                  <a:pt x="2571750" y="552450"/>
                </a:lnTo>
                <a:cubicBezTo>
                  <a:pt x="2571750" y="584013"/>
                  <a:pt x="2546163" y="609600"/>
                  <a:pt x="251460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86968" y="3479482"/>
            <a:ext cx="107795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过曝/欠曝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79092" y="35118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局部信息丢失</a:t>
            </a:r>
            <a:endParaRPr lang="zh-CN" sz="135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85800" y="4095750"/>
            <a:ext cx="2571750" cy="609600"/>
          </a:xfrm>
          <a:custGeom>
            <a:avLst/>
            <a:gdLst/>
            <a:ahLst/>
            <a:cxnLst/>
            <a:rect l="l" t="t" r="r" b="b"/>
            <a:pathLst>
              <a:path w="2571750" h="609600">
                <a:moveTo>
                  <a:pt x="57150" y="0"/>
                </a:moveTo>
                <a:lnTo>
                  <a:pt x="2514600" y="0"/>
                </a:lnTo>
                <a:cubicBezTo>
                  <a:pt x="2546163" y="0"/>
                  <a:pt x="2571750" y="25587"/>
                  <a:pt x="2571750" y="57150"/>
                </a:cubicBezTo>
                <a:lnTo>
                  <a:pt x="2571750" y="552450"/>
                </a:lnTo>
                <a:cubicBezTo>
                  <a:pt x="2571750" y="584013"/>
                  <a:pt x="2546163" y="609600"/>
                  <a:pt x="251460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86968" y="42795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重复视角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79092" y="4311968"/>
            <a:ext cx="7860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pair 冗余</a:t>
            </a:r>
            <a:endParaRPr lang="zh-CN" sz="135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09694" y="11229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工程处理</a:t>
            </a:r>
            <a:endParaRPr lang="zh-CN" sz="19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4229100" y="1943100"/>
            <a:ext cx="3238500" cy="704850"/>
          </a:xfrm>
          <a:custGeom>
            <a:avLst/>
            <a:gdLst/>
            <a:ahLst/>
            <a:cxnLst/>
            <a:rect l="l" t="t" r="r" b="b"/>
            <a:pathLst>
              <a:path w="3238500" h="7048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647700"/>
                </a:lnTo>
                <a:cubicBezTo>
                  <a:pt x="3238500" y="679263"/>
                  <a:pt x="3212913" y="704850"/>
                  <a:pt x="3181350" y="704850"/>
                </a:cubicBezTo>
                <a:lnTo>
                  <a:pt x="57150" y="704850"/>
                </a:lnTo>
                <a:cubicBezTo>
                  <a:pt x="25587" y="704850"/>
                  <a:pt x="0" y="679263"/>
                  <a:pt x="0" y="647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8D4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430268" y="2069782"/>
            <a:ext cx="15677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quality_score</a:t>
            </a:r>
            <a:endParaRPr lang="en-US" sz="165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431792" y="2368868"/>
            <a:ext cx="22490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清晰度 / 对比度 / 曝光裁剪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5848350" y="270510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5791200" y="2971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4229100" y="3143250"/>
            <a:ext cx="3238500" cy="704850"/>
          </a:xfrm>
          <a:custGeom>
            <a:avLst/>
            <a:gdLst/>
            <a:ahLst/>
            <a:cxnLst/>
            <a:rect l="l" t="t" r="r" b="b"/>
            <a:pathLst>
              <a:path w="3238500" h="7048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647700"/>
                </a:lnTo>
                <a:cubicBezTo>
                  <a:pt x="3238500" y="679263"/>
                  <a:pt x="3212913" y="704850"/>
                  <a:pt x="3181350" y="704850"/>
                </a:cubicBezTo>
                <a:lnTo>
                  <a:pt x="57150" y="704850"/>
                </a:lnTo>
                <a:cubicBezTo>
                  <a:pt x="25587" y="704850"/>
                  <a:pt x="0" y="679263"/>
                  <a:pt x="0" y="647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00A6A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430268" y="3269932"/>
            <a:ext cx="2209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preprocess_profile</a:t>
            </a:r>
            <a:endParaRPr lang="en-US" sz="165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431792" y="3569018"/>
            <a:ext cx="21036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lite_robust_v1 轻量增强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5848350" y="39052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791200" y="41719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229100" y="4343400"/>
            <a:ext cx="3238500" cy="704850"/>
          </a:xfrm>
          <a:custGeom>
            <a:avLst/>
            <a:gdLst/>
            <a:ahLst/>
            <a:cxnLst/>
            <a:rect l="l" t="t" r="r" b="b"/>
            <a:pathLst>
              <a:path w="3238500" h="704850">
                <a:moveTo>
                  <a:pt x="57150" y="0"/>
                </a:moveTo>
                <a:lnTo>
                  <a:pt x="3181350" y="0"/>
                </a:lnTo>
                <a:cubicBezTo>
                  <a:pt x="3212913" y="0"/>
                  <a:pt x="3238500" y="25587"/>
                  <a:pt x="3238500" y="57150"/>
                </a:cubicBezTo>
                <a:lnTo>
                  <a:pt x="3238500" y="647700"/>
                </a:lnTo>
                <a:cubicBezTo>
                  <a:pt x="3238500" y="679263"/>
                  <a:pt x="3212913" y="704850"/>
                  <a:pt x="3181350" y="704850"/>
                </a:cubicBezTo>
                <a:lnTo>
                  <a:pt x="57150" y="704850"/>
                </a:lnTo>
                <a:cubicBezTo>
                  <a:pt x="25587" y="704850"/>
                  <a:pt x="0" y="679263"/>
                  <a:pt x="0" y="647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C8D4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430268" y="4470082"/>
            <a:ext cx="21508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adaptive threshold</a:t>
            </a:r>
            <a:endParaRPr lang="en-US" sz="165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431792" y="47691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质量自适应置信度阈值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8362950" y="1695450"/>
            <a:ext cx="3462020" cy="2921635"/>
          </a:xfrm>
          <a:custGeom>
            <a:avLst/>
            <a:gdLst/>
            <a:ahLst/>
            <a:cxnLst/>
            <a:rect l="l" t="t" r="r" b="b"/>
            <a:pathLst>
              <a:path w="2743200" h="3028950">
                <a:moveTo>
                  <a:pt x="57150" y="0"/>
                </a:moveTo>
                <a:lnTo>
                  <a:pt x="2686050" y="0"/>
                </a:lnTo>
                <a:cubicBezTo>
                  <a:pt x="2717613" y="0"/>
                  <a:pt x="2743200" y="25587"/>
                  <a:pt x="2743200" y="57150"/>
                </a:cubicBezTo>
                <a:lnTo>
                  <a:pt x="2743200" y="2971800"/>
                </a:lnTo>
                <a:cubicBezTo>
                  <a:pt x="2743200" y="3003363"/>
                  <a:pt x="2717613" y="3028950"/>
                  <a:pt x="2686050" y="3028950"/>
                </a:cubicBezTo>
                <a:lnTo>
                  <a:pt x="57150" y="3028950"/>
                </a:lnTo>
                <a:cubicBezTo>
                  <a:pt x="25587" y="3028950"/>
                  <a:pt x="0" y="3003363"/>
                  <a:pt x="0" y="29718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8737600" y="2146300"/>
            <a:ext cx="279399" cy="279400"/>
            <a:chOff x="8737600" y="2146300"/>
            <a:chExt cx="279399" cy="279400"/>
          </a:xfrm>
        </p:grpSpPr>
        <p:sp>
          <p:nvSpPr>
            <p:cNvPr id="35" name="Freeform 35"/>
            <p:cNvSpPr/>
            <p:nvPr/>
          </p:nvSpPr>
          <p:spPr>
            <a:xfrm>
              <a:off x="8737600" y="2216150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34925"/>
                  </a:moveTo>
                  <a:cubicBezTo>
                    <a:pt x="0" y="54213"/>
                    <a:pt x="15636" y="69850"/>
                    <a:pt x="34925" y="69850"/>
                  </a:cubicBezTo>
                  <a:cubicBezTo>
                    <a:pt x="54213" y="69850"/>
                    <a:pt x="69850" y="54213"/>
                    <a:pt x="69850" y="34925"/>
                  </a:cubicBezTo>
                  <a:cubicBezTo>
                    <a:pt x="69850" y="15636"/>
                    <a:pt x="54213" y="0"/>
                    <a:pt x="34925" y="0"/>
                  </a:cubicBezTo>
                  <a:cubicBezTo>
                    <a:pt x="15636" y="0"/>
                    <a:pt x="0" y="15636"/>
                    <a:pt x="0" y="34925"/>
                  </a:cubicBez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72525" y="2146300"/>
              <a:ext cx="9525" cy="69850"/>
            </a:xfrm>
            <a:custGeom>
              <a:avLst/>
              <a:gdLst/>
              <a:ahLst/>
              <a:cxnLst/>
              <a:rect l="l" t="t" r="r" b="b"/>
              <a:pathLst>
                <a:path w="9525" h="69850">
                  <a:moveTo>
                    <a:pt x="0" y="0"/>
                  </a:moveTo>
                  <a:lnTo>
                    <a:pt x="0" y="69850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72525" y="2286000"/>
              <a:ext cx="9525" cy="139700"/>
            </a:xfrm>
            <a:custGeom>
              <a:avLst/>
              <a:gdLst/>
              <a:ahLst/>
              <a:cxnLst/>
              <a:rect l="l" t="t" r="r" b="b"/>
              <a:pathLst>
                <a:path w="9525" h="139700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42375" y="2320925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34925"/>
                  </a:moveTo>
                  <a:cubicBezTo>
                    <a:pt x="0" y="54213"/>
                    <a:pt x="15636" y="69850"/>
                    <a:pt x="34925" y="69850"/>
                  </a:cubicBezTo>
                  <a:cubicBezTo>
                    <a:pt x="54213" y="69850"/>
                    <a:pt x="69850" y="54213"/>
                    <a:pt x="69850" y="34925"/>
                  </a:cubicBezTo>
                  <a:cubicBezTo>
                    <a:pt x="69850" y="15636"/>
                    <a:pt x="54213" y="0"/>
                    <a:pt x="34925" y="0"/>
                  </a:cubicBezTo>
                  <a:cubicBezTo>
                    <a:pt x="15636" y="0"/>
                    <a:pt x="0" y="15636"/>
                    <a:pt x="0" y="34925"/>
                  </a:cubicBez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877300" y="2146300"/>
              <a:ext cx="9525" cy="174625"/>
            </a:xfrm>
            <a:custGeom>
              <a:avLst/>
              <a:gdLst/>
              <a:ahLst/>
              <a:cxnLst/>
              <a:rect l="l" t="t" r="r" b="b"/>
              <a:pathLst>
                <a:path w="9525" h="174625">
                  <a:moveTo>
                    <a:pt x="0" y="0"/>
                  </a:moveTo>
                  <a:lnTo>
                    <a:pt x="0" y="174625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77300" y="2390774"/>
              <a:ext cx="9525" cy="34925"/>
            </a:xfrm>
            <a:custGeom>
              <a:avLst/>
              <a:gdLst/>
              <a:ahLst/>
              <a:cxnLst/>
              <a:rect l="l" t="t" r="r" b="b"/>
              <a:pathLst>
                <a:path w="9525" h="34925">
                  <a:moveTo>
                    <a:pt x="0" y="0"/>
                  </a:moveTo>
                  <a:lnTo>
                    <a:pt x="0" y="34925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47149" y="2163762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34925"/>
                  </a:moveTo>
                  <a:cubicBezTo>
                    <a:pt x="0" y="54213"/>
                    <a:pt x="15636" y="69850"/>
                    <a:pt x="34925" y="69850"/>
                  </a:cubicBezTo>
                  <a:cubicBezTo>
                    <a:pt x="54213" y="69850"/>
                    <a:pt x="69850" y="54213"/>
                    <a:pt x="69850" y="34925"/>
                  </a:cubicBezTo>
                  <a:cubicBezTo>
                    <a:pt x="69850" y="15636"/>
                    <a:pt x="54213" y="0"/>
                    <a:pt x="34925" y="0"/>
                  </a:cubicBezTo>
                  <a:cubicBezTo>
                    <a:pt x="15636" y="0"/>
                    <a:pt x="0" y="15636"/>
                    <a:pt x="0" y="34925"/>
                  </a:cubicBez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82074" y="2146300"/>
              <a:ext cx="9525" cy="17462"/>
            </a:xfrm>
            <a:custGeom>
              <a:avLst/>
              <a:gdLst/>
              <a:ahLst/>
              <a:cxnLst/>
              <a:rect l="l" t="t" r="r" b="b"/>
              <a:pathLst>
                <a:path w="9525" h="17462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82074" y="2233612"/>
              <a:ext cx="9525" cy="192087"/>
            </a:xfrm>
            <a:custGeom>
              <a:avLst/>
              <a:gdLst/>
              <a:ahLst/>
              <a:cxnLst/>
              <a:rect l="l" t="t" r="r" b="b"/>
              <a:pathLst>
                <a:path w="9525" h="192087">
                  <a:moveTo>
                    <a:pt x="0" y="0"/>
                  </a:moveTo>
                  <a:lnTo>
                    <a:pt x="0" y="192087"/>
                  </a:lnTo>
                </a:path>
              </a:pathLst>
            </a:custGeom>
            <a:noFill/>
            <a:ln w="19050">
              <a:solidFill>
                <a:srgbClr val="F2B84B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8656320" y="2538095"/>
            <a:ext cx="2405380" cy="346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课程要求</a:t>
            </a:r>
            <a:endParaRPr lang="zh-CN" sz="225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656447" y="3085941"/>
            <a:ext cx="3143250" cy="1056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图片整理、剔除模糊/过曝素材，</a:t>
            </a:r>
            <a:endParaRPr lang="zh-CN" sz="1720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  <a:p>
            <a:pPr algn="l"/>
            <a:r>
              <a:rPr lang="zh-CN" sz="1720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不只</a:t>
            </a:r>
            <a:r>
              <a:rPr lang="zh-CN" sz="1720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  <a:sym typeface="+mn-ea"/>
              </a:rPr>
              <a:t>停留在人工筛选，</a:t>
            </a:r>
            <a:endParaRPr lang="zh-CN" sz="1720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  <a:sym typeface="+mn-ea"/>
            </a:endParaRPr>
          </a:p>
          <a:p>
            <a:pPr algn="l"/>
            <a:r>
              <a:rPr lang="zh-CN" sz="1720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  <a:sym typeface="+mn-ea"/>
              </a:rPr>
              <a:t>而是接入运行时质量评分。</a:t>
            </a:r>
            <a:endParaRPr lang="zh-CN" sz="1720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  <a:p>
            <a:pPr algn="l"/>
            <a:endParaRPr lang="zh-CN" sz="1720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52" name="Group 52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49" name="Line 4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07/18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985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SCENE GRAPH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53523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视图配对优化：anchorlocal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675132" y="1202055"/>
            <a:ext cx="22179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complete graph</a:t>
            </a:r>
            <a:endParaRPr lang="en-US" sz="210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295400" y="1771650"/>
            <a:ext cx="3124200" cy="3124200"/>
            <a:chOff x="1295400" y="1771650"/>
            <a:chExt cx="3124200" cy="3124200"/>
          </a:xfrm>
        </p:grpSpPr>
        <p:sp>
          <p:nvSpPr>
            <p:cNvPr id="8" name="Line 8"/>
            <p:cNvSpPr/>
            <p:nvPr/>
          </p:nvSpPr>
          <p:spPr>
            <a:xfrm>
              <a:off x="2857500" y="1905000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0" y="0"/>
                  </a:moveTo>
                  <a:lnTo>
                    <a:pt x="1010279" y="418471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857500" y="19050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142875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1905000"/>
              <a:ext cx="1010279" cy="2439029"/>
            </a:xfrm>
            <a:custGeom>
              <a:avLst/>
              <a:gdLst/>
              <a:ahLst/>
              <a:cxnLst/>
              <a:rect l="l" t="t" r="r" b="b"/>
              <a:pathLst>
                <a:path w="1010279" h="2439029">
                  <a:moveTo>
                    <a:pt x="0" y="0"/>
                  </a:moveTo>
                  <a:lnTo>
                    <a:pt x="1010279" y="243902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857500" y="1905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847221" y="1905000"/>
              <a:ext cx="1010279" cy="2439029"/>
            </a:xfrm>
            <a:custGeom>
              <a:avLst/>
              <a:gdLst/>
              <a:ahLst/>
              <a:cxnLst/>
              <a:rect l="l" t="t" r="r" b="b"/>
              <a:pathLst>
                <a:path w="1010279" h="2439029">
                  <a:moveTo>
                    <a:pt x="1010279" y="0"/>
                  </a:moveTo>
                  <a:lnTo>
                    <a:pt x="0" y="243902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19050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0"/>
                  </a:moveTo>
                  <a:lnTo>
                    <a:pt x="0" y="142875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847221" y="1905000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1010279" y="0"/>
                  </a:moveTo>
                  <a:lnTo>
                    <a:pt x="0" y="418471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67779" y="2323471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0" y="0"/>
                  </a:moveTo>
                  <a:lnTo>
                    <a:pt x="418471" y="101027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867779" y="2323471"/>
              <a:ext cx="9525" cy="2020557"/>
            </a:xfrm>
            <a:custGeom>
              <a:avLst/>
              <a:gdLst/>
              <a:ahLst/>
              <a:cxnLst/>
              <a:rect l="l" t="t" r="r" b="b"/>
              <a:pathLst>
                <a:path w="9525" h="2020557">
                  <a:moveTo>
                    <a:pt x="0" y="0"/>
                  </a:moveTo>
                  <a:lnTo>
                    <a:pt x="0" y="2020557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857500" y="2323471"/>
              <a:ext cx="1010279" cy="2439029"/>
            </a:xfrm>
            <a:custGeom>
              <a:avLst/>
              <a:gdLst/>
              <a:ahLst/>
              <a:cxnLst/>
              <a:rect l="l" t="t" r="r" b="b"/>
              <a:pathLst>
                <a:path w="1010279" h="2439029">
                  <a:moveTo>
                    <a:pt x="1010279" y="0"/>
                  </a:moveTo>
                  <a:lnTo>
                    <a:pt x="0" y="243902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847221" y="2323471"/>
              <a:ext cx="2020557" cy="2020557"/>
            </a:xfrm>
            <a:custGeom>
              <a:avLst/>
              <a:gdLst/>
              <a:ahLst/>
              <a:cxnLst/>
              <a:rect l="l" t="t" r="r" b="b"/>
              <a:pathLst>
                <a:path w="2020557" h="2020557">
                  <a:moveTo>
                    <a:pt x="2020557" y="0"/>
                  </a:moveTo>
                  <a:lnTo>
                    <a:pt x="0" y="2020557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28750" y="2323471"/>
              <a:ext cx="2439029" cy="1010279"/>
            </a:xfrm>
            <a:custGeom>
              <a:avLst/>
              <a:gdLst/>
              <a:ahLst/>
              <a:cxnLst/>
              <a:rect l="l" t="t" r="r" b="b"/>
              <a:pathLst>
                <a:path w="2439029" h="1010279">
                  <a:moveTo>
                    <a:pt x="2439029" y="0"/>
                  </a:moveTo>
                  <a:lnTo>
                    <a:pt x="0" y="101027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847221" y="2323471"/>
              <a:ext cx="2020557" cy="9525"/>
            </a:xfrm>
            <a:custGeom>
              <a:avLst/>
              <a:gdLst/>
              <a:ahLst/>
              <a:cxnLst/>
              <a:rect l="l" t="t" r="r" b="b"/>
              <a:pathLst>
                <a:path w="2020557" h="9525">
                  <a:moveTo>
                    <a:pt x="2020557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867779" y="3333750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418471" y="0"/>
                  </a:moveTo>
                  <a:lnTo>
                    <a:pt x="0" y="101027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857500" y="33337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0"/>
                  </a:moveTo>
                  <a:lnTo>
                    <a:pt x="0" y="142875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847221" y="3333750"/>
              <a:ext cx="2439029" cy="1010279"/>
            </a:xfrm>
            <a:custGeom>
              <a:avLst/>
              <a:gdLst/>
              <a:ahLst/>
              <a:cxnLst/>
              <a:rect l="l" t="t" r="r" b="b"/>
              <a:pathLst>
                <a:path w="2439029" h="1010279">
                  <a:moveTo>
                    <a:pt x="2439029" y="0"/>
                  </a:moveTo>
                  <a:lnTo>
                    <a:pt x="0" y="1010279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428750" y="3333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2857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847221" y="2323471"/>
              <a:ext cx="2439029" cy="1010279"/>
            </a:xfrm>
            <a:custGeom>
              <a:avLst/>
              <a:gdLst/>
              <a:ahLst/>
              <a:cxnLst/>
              <a:rect l="l" t="t" r="r" b="b"/>
              <a:pathLst>
                <a:path w="2439029" h="1010279">
                  <a:moveTo>
                    <a:pt x="2439029" y="101027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857500" y="4344029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1010279" y="0"/>
                  </a:moveTo>
                  <a:lnTo>
                    <a:pt x="0" y="418471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847221" y="4344029"/>
              <a:ext cx="2020557" cy="9525"/>
            </a:xfrm>
            <a:custGeom>
              <a:avLst/>
              <a:gdLst/>
              <a:ahLst/>
              <a:cxnLst/>
              <a:rect l="l" t="t" r="r" b="b"/>
              <a:pathLst>
                <a:path w="2020557" h="9525">
                  <a:moveTo>
                    <a:pt x="2020557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428750" y="3333750"/>
              <a:ext cx="2439029" cy="1010279"/>
            </a:xfrm>
            <a:custGeom>
              <a:avLst/>
              <a:gdLst/>
              <a:ahLst/>
              <a:cxnLst/>
              <a:rect l="l" t="t" r="r" b="b"/>
              <a:pathLst>
                <a:path w="2439029" h="1010279">
                  <a:moveTo>
                    <a:pt x="2439029" y="101027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847221" y="2323471"/>
              <a:ext cx="2020557" cy="2020557"/>
            </a:xfrm>
            <a:custGeom>
              <a:avLst/>
              <a:gdLst/>
              <a:ahLst/>
              <a:cxnLst/>
              <a:rect l="l" t="t" r="r" b="b"/>
              <a:pathLst>
                <a:path w="2020557" h="2020557">
                  <a:moveTo>
                    <a:pt x="2020557" y="202055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847221" y="4344029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1010279" y="418471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428750" y="33337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1428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847221" y="2323471"/>
              <a:ext cx="1010279" cy="2439029"/>
            </a:xfrm>
            <a:custGeom>
              <a:avLst/>
              <a:gdLst/>
              <a:ahLst/>
              <a:cxnLst/>
              <a:rect l="l" t="t" r="r" b="b"/>
              <a:pathLst>
                <a:path w="1010279" h="2439029">
                  <a:moveTo>
                    <a:pt x="1010279" y="243902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428750" y="3333750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418471" y="1010279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847221" y="2323471"/>
              <a:ext cx="9525" cy="2020557"/>
            </a:xfrm>
            <a:custGeom>
              <a:avLst/>
              <a:gdLst/>
              <a:ahLst/>
              <a:cxnLst/>
              <a:rect l="l" t="t" r="r" b="b"/>
              <a:pathLst>
                <a:path w="9525" h="2020557">
                  <a:moveTo>
                    <a:pt x="0" y="202055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428750" y="2323471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0" y="1010279"/>
                  </a:moveTo>
                  <a:lnTo>
                    <a:pt x="418471" y="0"/>
                  </a:lnTo>
                </a:path>
              </a:pathLst>
            </a:custGeom>
            <a:noFill/>
            <a:ln w="9525">
              <a:solidFill>
                <a:srgbClr val="C8D4E0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724150" y="17716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734429" y="2190121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4152900" y="3200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734429" y="4210679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2724150" y="46291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713871" y="4210679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295400" y="3200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713871" y="2190121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7324D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343406" y="4996815"/>
            <a:ext cx="28806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pair 数随图像数二次增长</a:t>
            </a:r>
            <a:endParaRPr lang="zh-CN" sz="1800" b="1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630680" y="5400675"/>
            <a:ext cx="26605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24 图 complete 约 276 pairs</a:t>
            </a:r>
            <a:endParaRPr lang="zh-CN" sz="150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656832" y="1202055"/>
            <a:ext cx="166878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anchorlocal</a:t>
            </a:r>
            <a:endParaRPr lang="en-US" sz="2100" b="1" dirty="0">
              <a:solidFill>
                <a:srgbClr val="00A6A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7200900" y="1771650"/>
            <a:ext cx="3124200" cy="3124200"/>
            <a:chOff x="7200900" y="1771650"/>
            <a:chExt cx="3124200" cy="3124200"/>
          </a:xfrm>
        </p:grpSpPr>
        <p:sp>
          <p:nvSpPr>
            <p:cNvPr id="48" name="Line 48"/>
            <p:cNvSpPr/>
            <p:nvPr/>
          </p:nvSpPr>
          <p:spPr>
            <a:xfrm>
              <a:off x="8763000" y="190500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1428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8763000" y="2323471"/>
              <a:ext cx="1010317" cy="1010279"/>
            </a:xfrm>
            <a:custGeom>
              <a:avLst/>
              <a:gdLst/>
              <a:ahLst/>
              <a:cxnLst/>
              <a:rect l="l" t="t" r="r" b="b"/>
              <a:pathLst>
                <a:path w="1010317" h="1010279">
                  <a:moveTo>
                    <a:pt x="0" y="1010279"/>
                  </a:moveTo>
                  <a:lnTo>
                    <a:pt x="1010317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8763000" y="33337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8763000" y="3333750"/>
              <a:ext cx="1010317" cy="1010279"/>
            </a:xfrm>
            <a:custGeom>
              <a:avLst/>
              <a:gdLst/>
              <a:ahLst/>
              <a:cxnLst/>
              <a:rect l="l" t="t" r="r" b="b"/>
              <a:pathLst>
                <a:path w="1010317" h="1010279">
                  <a:moveTo>
                    <a:pt x="0" y="0"/>
                  </a:moveTo>
                  <a:lnTo>
                    <a:pt x="1010317" y="1010279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8763000" y="333375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752721" y="3333750"/>
              <a:ext cx="1010279" cy="1010279"/>
            </a:xfrm>
            <a:custGeom>
              <a:avLst/>
              <a:gdLst/>
              <a:ahLst/>
              <a:cxnLst/>
              <a:rect l="l" t="t" r="r" b="b"/>
              <a:pathLst>
                <a:path w="1010279" h="1010279">
                  <a:moveTo>
                    <a:pt x="1010279" y="0"/>
                  </a:moveTo>
                  <a:lnTo>
                    <a:pt x="0" y="1010279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7334250" y="33337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14287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752721" y="2323471"/>
              <a:ext cx="1010279" cy="1010279"/>
            </a:xfrm>
            <a:custGeom>
              <a:avLst/>
              <a:gdLst/>
              <a:ahLst/>
              <a:cxnLst/>
              <a:rect l="l" t="t" r="r" b="b"/>
              <a:pathLst>
                <a:path w="1010279" h="1010279">
                  <a:moveTo>
                    <a:pt x="1010279" y="10102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763000" y="1905000"/>
              <a:ext cx="1010317" cy="418471"/>
            </a:xfrm>
            <a:custGeom>
              <a:avLst/>
              <a:gdLst/>
              <a:ahLst/>
              <a:cxnLst/>
              <a:rect l="l" t="t" r="r" b="b"/>
              <a:pathLst>
                <a:path w="1010317" h="418471">
                  <a:moveTo>
                    <a:pt x="0" y="0"/>
                  </a:moveTo>
                  <a:lnTo>
                    <a:pt x="1010317" y="418471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57" name="Line 57"/>
            <p:cNvSpPr/>
            <p:nvPr/>
          </p:nvSpPr>
          <p:spPr>
            <a:xfrm>
              <a:off x="9773317" y="2323471"/>
              <a:ext cx="418433" cy="1010279"/>
            </a:xfrm>
            <a:custGeom>
              <a:avLst/>
              <a:gdLst/>
              <a:ahLst/>
              <a:cxnLst/>
              <a:rect l="l" t="t" r="r" b="b"/>
              <a:pathLst>
                <a:path w="418433" h="1010279">
                  <a:moveTo>
                    <a:pt x="0" y="0"/>
                  </a:moveTo>
                  <a:lnTo>
                    <a:pt x="418433" y="1010279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58" name="Line 58"/>
            <p:cNvSpPr/>
            <p:nvPr/>
          </p:nvSpPr>
          <p:spPr>
            <a:xfrm>
              <a:off x="9773317" y="3333750"/>
              <a:ext cx="418433" cy="1010279"/>
            </a:xfrm>
            <a:custGeom>
              <a:avLst/>
              <a:gdLst/>
              <a:ahLst/>
              <a:cxnLst/>
              <a:rect l="l" t="t" r="r" b="b"/>
              <a:pathLst>
                <a:path w="418433" h="1010279">
                  <a:moveTo>
                    <a:pt x="418433" y="0"/>
                  </a:moveTo>
                  <a:lnTo>
                    <a:pt x="0" y="1010279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59" name="Line 59"/>
            <p:cNvSpPr/>
            <p:nvPr/>
          </p:nvSpPr>
          <p:spPr>
            <a:xfrm>
              <a:off x="8763000" y="4344029"/>
              <a:ext cx="1010317" cy="418471"/>
            </a:xfrm>
            <a:custGeom>
              <a:avLst/>
              <a:gdLst/>
              <a:ahLst/>
              <a:cxnLst/>
              <a:rect l="l" t="t" r="r" b="b"/>
              <a:pathLst>
                <a:path w="1010317" h="418471">
                  <a:moveTo>
                    <a:pt x="1010317" y="0"/>
                  </a:moveTo>
                  <a:lnTo>
                    <a:pt x="0" y="418471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60" name="Line 60"/>
            <p:cNvSpPr/>
            <p:nvPr/>
          </p:nvSpPr>
          <p:spPr>
            <a:xfrm>
              <a:off x="7752721" y="4344029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1010279" y="418471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61" name="Line 61"/>
            <p:cNvSpPr/>
            <p:nvPr/>
          </p:nvSpPr>
          <p:spPr>
            <a:xfrm>
              <a:off x="7334250" y="3333750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418471" y="1010279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62" name="Line 62"/>
            <p:cNvSpPr/>
            <p:nvPr/>
          </p:nvSpPr>
          <p:spPr>
            <a:xfrm>
              <a:off x="7334250" y="2323471"/>
              <a:ext cx="418471" cy="1010279"/>
            </a:xfrm>
            <a:custGeom>
              <a:avLst/>
              <a:gdLst/>
              <a:ahLst/>
              <a:cxnLst/>
              <a:rect l="l" t="t" r="r" b="b"/>
              <a:pathLst>
                <a:path w="418471" h="1010279">
                  <a:moveTo>
                    <a:pt x="0" y="1010279"/>
                  </a:moveTo>
                  <a:lnTo>
                    <a:pt x="418471" y="0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63" name="Line 63"/>
            <p:cNvSpPr/>
            <p:nvPr/>
          </p:nvSpPr>
          <p:spPr>
            <a:xfrm>
              <a:off x="7752721" y="1905000"/>
              <a:ext cx="1010279" cy="418471"/>
            </a:xfrm>
            <a:custGeom>
              <a:avLst/>
              <a:gdLst/>
              <a:ahLst/>
              <a:cxnLst/>
              <a:rect l="l" t="t" r="r" b="b"/>
              <a:pathLst>
                <a:path w="1010279" h="418471">
                  <a:moveTo>
                    <a:pt x="0" y="418471"/>
                  </a:moveTo>
                  <a:lnTo>
                    <a:pt x="1010279" y="0"/>
                  </a:lnTo>
                </a:path>
              </a:pathLst>
            </a:custGeom>
            <a:noFill/>
            <a:ln w="14288">
              <a:solidFill>
                <a:srgbClr val="C8D4E0"/>
              </a:solidFill>
              <a:custDash>
                <a:ds d="333333" sp="466666"/>
              </a:custDash>
            </a:ln>
          </p:spPr>
        </p:sp>
        <p:sp>
          <p:nvSpPr>
            <p:cNvPr id="64" name="Ellipse 64"/>
            <p:cNvSpPr/>
            <p:nvPr/>
          </p:nvSpPr>
          <p:spPr>
            <a:xfrm>
              <a:off x="8572500" y="3143250"/>
              <a:ext cx="381000" cy="381000"/>
            </a:xfrm>
            <a:prstGeom prst="ellipse">
              <a:avLst/>
            </a:prstGeom>
            <a:solidFill>
              <a:srgbClr val="F2B84B"/>
            </a:solidFill>
            <a:ln w="19050">
              <a:solidFill>
                <a:srgbClr val="17324D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629650" y="17716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639967" y="2190121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058400" y="3200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9639967" y="4210679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629650" y="462915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619371" y="4210679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200900" y="3200400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619371" y="2190121"/>
              <a:ext cx="266700" cy="266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A6A6"/>
              </a:solidFill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7325106" y="4996815"/>
            <a:ext cx="326229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高质量 anchor + 局部相邻边</a:t>
            </a:r>
            <a:endParaRPr lang="zh-CN" sz="1800" b="1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7421880" y="5400675"/>
            <a:ext cx="39023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减少冗余 pair，保留全局参照与视角连续性</a:t>
            </a:r>
            <a:endParaRPr lang="zh-CN" sz="1500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5083175" y="2524760"/>
            <a:ext cx="1123950" cy="1200150"/>
          </a:xfrm>
          <a:custGeom>
            <a:avLst/>
            <a:gdLst/>
            <a:ahLst/>
            <a:cxnLst/>
            <a:rect l="l" t="t" r="r" b="b"/>
            <a:pathLst>
              <a:path w="1123950" h="1200150">
                <a:moveTo>
                  <a:pt x="57150" y="0"/>
                </a:moveTo>
                <a:lnTo>
                  <a:pt x="1066800" y="0"/>
                </a:lnTo>
                <a:cubicBezTo>
                  <a:pt x="1098363" y="0"/>
                  <a:pt x="1123950" y="25587"/>
                  <a:pt x="1123950" y="57150"/>
                </a:cubicBezTo>
                <a:lnTo>
                  <a:pt x="1123950" y="1143000"/>
                </a:lnTo>
                <a:cubicBezTo>
                  <a:pt x="1123950" y="1174563"/>
                  <a:pt x="1098363" y="1200150"/>
                  <a:pt x="1066800" y="1200150"/>
                </a:cubicBezTo>
                <a:lnTo>
                  <a:pt x="57150" y="1200150"/>
                </a:lnTo>
                <a:cubicBezTo>
                  <a:pt x="25587" y="1200150"/>
                  <a:pt x="0" y="1174563"/>
                  <a:pt x="0" y="11430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386326" y="2645092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vs</a:t>
            </a:r>
            <a:endParaRPr lang="en-US" sz="2550" b="1" dirty="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5213477" y="320040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策略改变</a:t>
            </a:r>
            <a:endParaRPr lang="zh-CN" sz="150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82" name="Group 82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79" name="Line 7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08/18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649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RUNTIME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70625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Runtime Profile：统一默认运行策略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428750"/>
            <a:ext cx="5219700" cy="3771900"/>
          </a:xfrm>
          <a:custGeom>
            <a:avLst/>
            <a:gdLst/>
            <a:ahLst/>
            <a:cxnLst/>
            <a:rect l="l" t="t" r="r" b="b"/>
            <a:pathLst>
              <a:path w="5219700" h="3771900">
                <a:moveTo>
                  <a:pt x="57150" y="0"/>
                </a:moveTo>
                <a:lnTo>
                  <a:pt x="5162550" y="0"/>
                </a:lnTo>
                <a:cubicBezTo>
                  <a:pt x="5194113" y="0"/>
                  <a:pt x="5219700" y="25587"/>
                  <a:pt x="5219700" y="57150"/>
                </a:cubicBezTo>
                <a:lnTo>
                  <a:pt x="5219700" y="3714750"/>
                </a:lnTo>
                <a:cubicBezTo>
                  <a:pt x="5219700" y="3746313"/>
                  <a:pt x="5194113" y="3771900"/>
                  <a:pt x="5162550" y="3771900"/>
                </a:cubicBezTo>
                <a:lnTo>
                  <a:pt x="57150" y="3771900"/>
                </a:lnTo>
                <a:cubicBezTo>
                  <a:pt x="25587" y="3771900"/>
                  <a:pt x="0" y="3746313"/>
                  <a:pt x="0" y="3714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84682" y="1583055"/>
            <a:ext cx="10899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default</a:t>
            </a:r>
            <a:endParaRPr lang="en-US" sz="210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04032" y="1583055"/>
            <a:ext cx="215856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lite_robust_v1</a:t>
            </a:r>
            <a:endParaRPr lang="en-US" sz="2100" b="1" dirty="0">
              <a:solidFill>
                <a:srgbClr val="00A6A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876300" y="228600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88492" y="2426018"/>
            <a:ext cx="386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AMP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96337" y="2426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手动配置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069842" y="2426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默认开启</a:t>
            </a:r>
            <a:endParaRPr lang="zh-CN" sz="13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876300" y="276225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88492" y="2902268"/>
            <a:ext cx="14926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pair_batch_size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696337" y="2948623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较大批处理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69842" y="2902268"/>
            <a:ext cx="1377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4 + OOM retry</a:t>
            </a:r>
            <a:endParaRPr lang="en-US" sz="1350" b="1" dirty="0">
              <a:solidFill>
                <a:srgbClr val="00A6A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876300" y="323850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88492" y="3378518"/>
            <a:ext cx="18074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scene_graph_policy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697607" y="3377883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固定策略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069842" y="3378518"/>
            <a:ext cx="17120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auto / anchorlocal</a:t>
            </a:r>
            <a:endParaRPr lang="en-US" sz="1350" b="1" dirty="0">
              <a:solidFill>
                <a:srgbClr val="00A6A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876300" y="371475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88492" y="3854768"/>
            <a:ext cx="18074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preprocess_profile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696337" y="3854133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无统一入口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69842" y="38547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轻量稳健预处理</a:t>
            </a:r>
            <a:endParaRPr lang="zh-CN" sz="13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76300" y="419100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8492" y="4331018"/>
            <a:ext cx="15498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quality_adaptive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97607" y="428656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关闭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69842" y="43310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开启</a:t>
            </a:r>
            <a:endParaRPr lang="zh-CN" sz="13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876300" y="4667250"/>
            <a:ext cx="4686300" cy="9525"/>
          </a:xfrm>
          <a:custGeom>
            <a:avLst/>
            <a:gdLst/>
            <a:ahLst/>
            <a:cxnLst/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88492" y="4807268"/>
            <a:ext cx="2758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5C6B7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GO</a:t>
            </a:r>
            <a:endParaRPr lang="en-US" sz="1350" b="1" dirty="0">
              <a:solidFill>
                <a:srgbClr val="5C6B7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698242" y="473995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固定迭代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069842" y="4807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早停参数</a:t>
            </a:r>
            <a:endParaRPr lang="zh-CN" sz="13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6438900" y="1428750"/>
            <a:ext cx="5143500" cy="3771900"/>
          </a:xfrm>
          <a:custGeom>
            <a:avLst/>
            <a:gdLst/>
            <a:ahLst/>
            <a:cxnLst/>
            <a:rect l="l" t="t" r="r" b="b"/>
            <a:pathLst>
              <a:path w="5143500" h="3771900">
                <a:moveTo>
                  <a:pt x="57150" y="0"/>
                </a:moveTo>
                <a:lnTo>
                  <a:pt x="5086350" y="0"/>
                </a:lnTo>
                <a:cubicBezTo>
                  <a:pt x="5117913" y="0"/>
                  <a:pt x="5143500" y="25587"/>
                  <a:pt x="5143500" y="57150"/>
                </a:cubicBezTo>
                <a:lnTo>
                  <a:pt x="5143500" y="3714750"/>
                </a:lnTo>
                <a:cubicBezTo>
                  <a:pt x="5143500" y="3746313"/>
                  <a:pt x="5117913" y="3771900"/>
                  <a:pt x="5086350" y="3771900"/>
                </a:cubicBezTo>
                <a:lnTo>
                  <a:pt x="57150" y="3771900"/>
                </a:lnTo>
                <a:cubicBezTo>
                  <a:pt x="25587" y="3771900"/>
                  <a:pt x="0" y="3746313"/>
                  <a:pt x="0" y="3714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13220" y="1643062"/>
            <a:ext cx="371653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CLI / Demo 统一参数口径</a:t>
            </a:r>
            <a:endParaRPr lang="zh-CN" sz="225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717792" y="2254568"/>
            <a:ext cx="15584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demo.py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717792" y="2486025"/>
            <a:ext cx="30668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--weights checkpoints/best.pth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717792" y="2717482"/>
            <a:ext cx="31305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--runtime_profile lite_robust_v1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717792" y="2948940"/>
            <a:ext cx="17674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--server_port 7860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717792" y="3411855"/>
            <a:ext cx="37847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inference_global_optimization.py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717792" y="3643312"/>
            <a:ext cx="31305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--runtime_profile lite_robust_v1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717792" y="3874770"/>
            <a:ext cx="25307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--scene_graph_policy auto \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717792" y="4106227"/>
            <a:ext cx="29669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--pair_batch_size 4 --oom_retry</a:t>
            </a:r>
            <a:endParaRPr lang="en-US" sz="135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6724650" y="4838700"/>
            <a:ext cx="4457700" cy="323850"/>
          </a:xfrm>
          <a:custGeom>
            <a:avLst/>
            <a:gdLst/>
            <a:ahLst/>
            <a:cxnLst/>
            <a:rect l="l" t="t" r="r" b="b"/>
            <a:pathLst>
              <a:path w="4457700" h="323850">
                <a:moveTo>
                  <a:pt x="38100" y="0"/>
                </a:moveTo>
                <a:lnTo>
                  <a:pt x="4419600" y="0"/>
                </a:lnTo>
                <a:cubicBezTo>
                  <a:pt x="4440642" y="0"/>
                  <a:pt x="4457700" y="17058"/>
                  <a:pt x="4457700" y="38100"/>
                </a:cubicBezTo>
                <a:lnTo>
                  <a:pt x="4457700" y="285750"/>
                </a:lnTo>
                <a:cubicBezTo>
                  <a:pt x="4457700" y="306792"/>
                  <a:pt x="4440642" y="323850"/>
                  <a:pt x="44196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2B84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927342" y="4912042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意义：减少现场演示与批量测试的复现风险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46" name="Line 4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09/18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809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LOW VRAM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71993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低显存推理：AMP 与 OOM 自动回退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428750"/>
            <a:ext cx="4095750" cy="3886200"/>
          </a:xfrm>
          <a:custGeom>
            <a:avLst/>
            <a:gdLst/>
            <a:ahLst/>
            <a:cxnLst/>
            <a:rect l="l" t="t" r="r" b="b"/>
            <a:pathLst>
              <a:path w="4095750" h="3886200">
                <a:moveTo>
                  <a:pt x="57150" y="0"/>
                </a:moveTo>
                <a:lnTo>
                  <a:pt x="4038600" y="0"/>
                </a:lnTo>
                <a:cubicBezTo>
                  <a:pt x="4070163" y="0"/>
                  <a:pt x="4095750" y="25587"/>
                  <a:pt x="4095750" y="57150"/>
                </a:cubicBezTo>
                <a:lnTo>
                  <a:pt x="4095750" y="3829050"/>
                </a:lnTo>
                <a:cubicBezTo>
                  <a:pt x="4095750" y="3860613"/>
                  <a:pt x="4070163" y="3886200"/>
                  <a:pt x="4038600" y="3886200"/>
                </a:cubicBezTo>
                <a:lnTo>
                  <a:pt x="57150" y="3886200"/>
                </a:lnTo>
                <a:cubicBezTo>
                  <a:pt x="25587" y="3886200"/>
                  <a:pt x="0" y="3860613"/>
                  <a:pt x="0" y="3829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8" name="Freeform 8"/>
          <p:cNvSpPr/>
          <p:nvPr>
            <p:custDataLst>
              <p:tags r:id="rId1"/>
            </p:custDataLst>
          </p:nvPr>
        </p:nvSpPr>
        <p:spPr>
          <a:xfrm>
            <a:off x="1104900" y="1762125"/>
            <a:ext cx="2781300" cy="533400"/>
          </a:xfrm>
          <a:custGeom>
            <a:avLst/>
            <a:gdLst/>
            <a:ahLst/>
            <a:cxnLst/>
            <a:rect l="l" t="t" r="r" b="b"/>
            <a:pathLst>
              <a:path w="2781300" h="533400">
                <a:moveTo>
                  <a:pt x="57150" y="0"/>
                </a:moveTo>
                <a:lnTo>
                  <a:pt x="2724150" y="0"/>
                </a:lnTo>
                <a:cubicBezTo>
                  <a:pt x="2755713" y="0"/>
                  <a:pt x="2781300" y="25587"/>
                  <a:pt x="2781300" y="57150"/>
                </a:cubicBezTo>
                <a:lnTo>
                  <a:pt x="2781300" y="476250"/>
                </a:lnTo>
                <a:cubicBezTo>
                  <a:pt x="2781300" y="507813"/>
                  <a:pt x="2755713" y="533400"/>
                  <a:pt x="27241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9" name="TextBox 9"/>
          <p:cNvSpPr txBox="1"/>
          <p:nvPr>
            <p:custDataLst>
              <p:tags r:id="rId2"/>
            </p:custDataLst>
          </p:nvPr>
        </p:nvSpPr>
        <p:spPr>
          <a:xfrm>
            <a:off x="1381506" y="1901190"/>
            <a:ext cx="115051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batch = 4</a:t>
            </a:r>
            <a:endParaRPr lang="en-US" sz="18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2736342" y="19497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优先保证吞吐</a:t>
            </a:r>
            <a:endParaRPr lang="zh-CN" sz="135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1" name="Line 11"/>
          <p:cNvSpPr/>
          <p:nvPr>
            <p:custDataLst>
              <p:tags r:id="rId4"/>
            </p:custDataLst>
          </p:nvPr>
        </p:nvSpPr>
        <p:spPr>
          <a:xfrm>
            <a:off x="2495550" y="235267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C8D4E0"/>
            </a:solidFill>
          </a:ln>
        </p:spPr>
      </p:sp>
      <p:sp>
        <p:nvSpPr>
          <p:cNvPr id="12" name="Polygon 12"/>
          <p:cNvSpPr/>
          <p:nvPr>
            <p:custDataLst>
              <p:tags r:id="rId5"/>
            </p:custDataLst>
          </p:nvPr>
        </p:nvSpPr>
        <p:spPr>
          <a:xfrm>
            <a:off x="2438400" y="26003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C8D4E0"/>
          </a:solidFill>
          <a:ln>
            <a:noFill/>
          </a:ln>
        </p:spPr>
      </p:sp>
      <p:sp>
        <p:nvSpPr>
          <p:cNvPr id="13" name="Freeform 13"/>
          <p:cNvSpPr/>
          <p:nvPr>
            <p:custDataLst>
              <p:tags r:id="rId6"/>
            </p:custDataLst>
          </p:nvPr>
        </p:nvSpPr>
        <p:spPr>
          <a:xfrm>
            <a:off x="1104900" y="2695575"/>
            <a:ext cx="2781300" cy="533400"/>
          </a:xfrm>
          <a:custGeom>
            <a:avLst/>
            <a:gdLst/>
            <a:ahLst/>
            <a:cxnLst/>
            <a:rect l="l" t="t" r="r" b="b"/>
            <a:pathLst>
              <a:path w="2781300" h="533400">
                <a:moveTo>
                  <a:pt x="57150" y="0"/>
                </a:moveTo>
                <a:lnTo>
                  <a:pt x="2724150" y="0"/>
                </a:lnTo>
                <a:cubicBezTo>
                  <a:pt x="2755713" y="0"/>
                  <a:pt x="2781300" y="25587"/>
                  <a:pt x="2781300" y="57150"/>
                </a:cubicBezTo>
                <a:lnTo>
                  <a:pt x="2781300" y="476250"/>
                </a:lnTo>
                <a:cubicBezTo>
                  <a:pt x="2781300" y="507813"/>
                  <a:pt x="2755713" y="533400"/>
                  <a:pt x="27241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1381506" y="2834640"/>
            <a:ext cx="12952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CUDA OOM</a:t>
            </a:r>
            <a:endParaRPr lang="en-US" sz="1800" b="1" dirty="0">
              <a:solidFill>
                <a:srgbClr val="D9770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2641092" y="28832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检测并释放显存</a:t>
            </a:r>
            <a:endParaRPr lang="zh-CN" sz="135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6" name="Line 16"/>
          <p:cNvSpPr/>
          <p:nvPr>
            <p:custDataLst>
              <p:tags r:id="rId9"/>
            </p:custDataLst>
          </p:nvPr>
        </p:nvSpPr>
        <p:spPr>
          <a:xfrm>
            <a:off x="2495550" y="328612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C8D4E0"/>
            </a:solidFill>
          </a:ln>
        </p:spPr>
      </p:sp>
      <p:sp>
        <p:nvSpPr>
          <p:cNvPr id="17" name="Polygon 17"/>
          <p:cNvSpPr/>
          <p:nvPr>
            <p:custDataLst>
              <p:tags r:id="rId10"/>
            </p:custDataLst>
          </p:nvPr>
        </p:nvSpPr>
        <p:spPr>
          <a:xfrm>
            <a:off x="2438400" y="35337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C8D4E0"/>
          </a:solidFill>
          <a:ln>
            <a:noFill/>
          </a:ln>
        </p:spPr>
      </p:sp>
      <p:sp>
        <p:nvSpPr>
          <p:cNvPr id="18" name="Freeform 18"/>
          <p:cNvSpPr/>
          <p:nvPr>
            <p:custDataLst>
              <p:tags r:id="rId11"/>
            </p:custDataLst>
          </p:nvPr>
        </p:nvSpPr>
        <p:spPr>
          <a:xfrm>
            <a:off x="1104900" y="3629025"/>
            <a:ext cx="2781300" cy="533400"/>
          </a:xfrm>
          <a:custGeom>
            <a:avLst/>
            <a:gdLst/>
            <a:ahLst/>
            <a:cxnLst/>
            <a:rect l="l" t="t" r="r" b="b"/>
            <a:pathLst>
              <a:path w="2781300" h="533400">
                <a:moveTo>
                  <a:pt x="57150" y="0"/>
                </a:moveTo>
                <a:lnTo>
                  <a:pt x="2724150" y="0"/>
                </a:lnTo>
                <a:cubicBezTo>
                  <a:pt x="2755713" y="0"/>
                  <a:pt x="2781300" y="25587"/>
                  <a:pt x="2781300" y="57150"/>
                </a:cubicBezTo>
                <a:lnTo>
                  <a:pt x="2781300" y="476250"/>
                </a:lnTo>
                <a:cubicBezTo>
                  <a:pt x="2781300" y="507813"/>
                  <a:pt x="2755713" y="533400"/>
                  <a:pt x="27241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1381506" y="3768090"/>
            <a:ext cx="115051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batch = 2</a:t>
            </a:r>
            <a:endParaRPr lang="en-US" sz="18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 txBox="1"/>
          <p:nvPr>
            <p:custDataLst>
              <p:tags r:id="rId13"/>
            </p:custDataLst>
          </p:nvPr>
        </p:nvSpPr>
        <p:spPr>
          <a:xfrm>
            <a:off x="2736342" y="38166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自动降级重试</a:t>
            </a:r>
            <a:endParaRPr lang="zh-CN" sz="135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1" name="Line 21"/>
          <p:cNvSpPr/>
          <p:nvPr>
            <p:custDataLst>
              <p:tags r:id="rId14"/>
            </p:custDataLst>
          </p:nvPr>
        </p:nvSpPr>
        <p:spPr>
          <a:xfrm>
            <a:off x="2495550" y="421957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C8D4E0"/>
            </a:solidFill>
          </a:ln>
        </p:spPr>
      </p:sp>
      <p:sp>
        <p:nvSpPr>
          <p:cNvPr id="22" name="Polygon 22"/>
          <p:cNvSpPr/>
          <p:nvPr>
            <p:custDataLst>
              <p:tags r:id="rId15"/>
            </p:custDataLst>
          </p:nvPr>
        </p:nvSpPr>
        <p:spPr>
          <a:xfrm>
            <a:off x="2438400" y="44672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C8D4E0"/>
          </a:solidFill>
          <a:ln>
            <a:noFill/>
          </a:ln>
        </p:spPr>
      </p:sp>
      <p:sp>
        <p:nvSpPr>
          <p:cNvPr id="23" name="Freeform 23"/>
          <p:cNvSpPr/>
          <p:nvPr>
            <p:custDataLst>
              <p:tags r:id="rId16"/>
            </p:custDataLst>
          </p:nvPr>
        </p:nvSpPr>
        <p:spPr>
          <a:xfrm>
            <a:off x="1104900" y="4562475"/>
            <a:ext cx="2781300" cy="533400"/>
          </a:xfrm>
          <a:custGeom>
            <a:avLst/>
            <a:gdLst/>
            <a:ahLst/>
            <a:cxnLst/>
            <a:rect l="l" t="t" r="r" b="b"/>
            <a:pathLst>
              <a:path w="2781300" h="533400">
                <a:moveTo>
                  <a:pt x="57150" y="0"/>
                </a:moveTo>
                <a:lnTo>
                  <a:pt x="2724150" y="0"/>
                </a:lnTo>
                <a:cubicBezTo>
                  <a:pt x="2755713" y="0"/>
                  <a:pt x="2781300" y="25587"/>
                  <a:pt x="2781300" y="57150"/>
                </a:cubicBezTo>
                <a:lnTo>
                  <a:pt x="2781300" y="476250"/>
                </a:lnTo>
                <a:cubicBezTo>
                  <a:pt x="2781300" y="507813"/>
                  <a:pt x="2755713" y="533400"/>
                  <a:pt x="27241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24" name="TextBox 24"/>
          <p:cNvSpPr txBox="1"/>
          <p:nvPr>
            <p:custDataLst>
              <p:tags r:id="rId17"/>
            </p:custDataLst>
          </p:nvPr>
        </p:nvSpPr>
        <p:spPr>
          <a:xfrm>
            <a:off x="1381506" y="4701540"/>
            <a:ext cx="115051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batch = 1</a:t>
            </a:r>
            <a:endParaRPr lang="en-US" sz="18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 txBox="1"/>
          <p:nvPr>
            <p:custDataLst>
              <p:tags r:id="rId18"/>
            </p:custDataLst>
          </p:nvPr>
        </p:nvSpPr>
        <p:spPr>
          <a:xfrm>
            <a:off x="2736342" y="47501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最后保底完成</a:t>
            </a:r>
            <a:endParaRPr lang="zh-CN" sz="135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5124450" y="1428750"/>
            <a:ext cx="6457950" cy="3886200"/>
          </a:xfrm>
          <a:custGeom>
            <a:avLst/>
            <a:gdLst/>
            <a:ahLst/>
            <a:cxnLst/>
            <a:rect l="l" t="t" r="r" b="b"/>
            <a:pathLst>
              <a:path w="6457950" h="3886200">
                <a:moveTo>
                  <a:pt x="57150" y="0"/>
                </a:moveTo>
                <a:lnTo>
                  <a:pt x="6400800" y="0"/>
                </a:lnTo>
                <a:cubicBezTo>
                  <a:pt x="6432363" y="0"/>
                  <a:pt x="6457950" y="25587"/>
                  <a:pt x="6457950" y="57150"/>
                </a:cubicBezTo>
                <a:lnTo>
                  <a:pt x="6457950" y="3829050"/>
                </a:lnTo>
                <a:cubicBezTo>
                  <a:pt x="6457950" y="3860613"/>
                  <a:pt x="6432363" y="3886200"/>
                  <a:pt x="6400800" y="3886200"/>
                </a:cubicBezTo>
                <a:lnTo>
                  <a:pt x="57150" y="3886200"/>
                </a:lnTo>
                <a:cubicBezTo>
                  <a:pt x="25587" y="3886200"/>
                  <a:pt x="0" y="3860613"/>
                  <a:pt x="0" y="3829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27" name="Imag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07082" y="1638300"/>
            <a:ext cx="5492782" cy="329565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344287" y="5004911"/>
            <a:ext cx="573696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24 图：13.6GB → 7.9GB；36 图：18.9GB → 9.6GB</a:t>
            </a:r>
            <a:endParaRPr lang="zh-CN" sz="172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10/18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blinds/>
      </p:transition>
    </mc:Choice>
    <mc:Fallback>
      <p:transition spd="slow">
        <p:blind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1733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GLOBAL OPTIMIZATION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全局优化与早停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838200" y="1428750"/>
            <a:ext cx="7239000" cy="3695700"/>
          </a:xfrm>
          <a:custGeom>
            <a:avLst/>
            <a:gdLst/>
            <a:ahLst/>
            <a:cxnLst/>
            <a:rect l="l" t="t" r="r" b="b"/>
            <a:pathLst>
              <a:path w="7239000" h="3695700">
                <a:moveTo>
                  <a:pt x="57150" y="0"/>
                </a:moveTo>
                <a:lnTo>
                  <a:pt x="7181850" y="0"/>
                </a:lnTo>
                <a:cubicBezTo>
                  <a:pt x="7213413" y="0"/>
                  <a:pt x="7239000" y="25587"/>
                  <a:pt x="7239000" y="57150"/>
                </a:cubicBezTo>
                <a:lnTo>
                  <a:pt x="7239000" y="3638550"/>
                </a:lnTo>
                <a:cubicBezTo>
                  <a:pt x="7239000" y="3670113"/>
                  <a:pt x="7213413" y="3695700"/>
                  <a:pt x="7181850" y="3695700"/>
                </a:cubicBezTo>
                <a:lnTo>
                  <a:pt x="57150" y="3695700"/>
                </a:lnTo>
                <a:cubicBezTo>
                  <a:pt x="25587" y="3695700"/>
                  <a:pt x="0" y="3670113"/>
                  <a:pt x="0" y="3638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1022604" y="1946910"/>
            <a:ext cx="6359271" cy="2939796"/>
            <a:chOff x="1022604" y="1946910"/>
            <a:chExt cx="6359271" cy="2939796"/>
          </a:xfrm>
        </p:grpSpPr>
        <p:sp>
          <p:nvSpPr>
            <p:cNvPr id="8" name="Line 8"/>
            <p:cNvSpPr/>
            <p:nvPr/>
          </p:nvSpPr>
          <p:spPr>
            <a:xfrm>
              <a:off x="1428750" y="451485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4288">
              <a:solidFill>
                <a:srgbClr val="C8D4E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428750" y="1981200"/>
              <a:ext cx="9525" cy="2533650"/>
            </a:xfrm>
            <a:custGeom>
              <a:avLst/>
              <a:gdLst/>
              <a:ahLst/>
              <a:cxnLst/>
              <a:rect l="l" t="t" r="r" b="b"/>
              <a:pathLst>
                <a:path w="9525" h="2533650">
                  <a:moveTo>
                    <a:pt x="0" y="0"/>
                  </a:moveTo>
                  <a:lnTo>
                    <a:pt x="0" y="2533650"/>
                  </a:lnTo>
                </a:path>
              </a:pathLst>
            </a:custGeom>
            <a:noFill/>
            <a:ln w="14288">
              <a:solidFill>
                <a:srgbClr val="C8D4E0"/>
              </a:solidFill>
            </a:ln>
          </p:spPr>
        </p:sp>
        <p:sp>
          <p:nvSpPr>
            <p:cNvPr id="10" name="Polyline 10"/>
            <p:cNvSpPr/>
            <p:nvPr/>
          </p:nvSpPr>
          <p:spPr>
            <a:xfrm>
              <a:off x="1428750" y="2228850"/>
              <a:ext cx="5905500" cy="1866900"/>
            </a:xfrm>
            <a:custGeom>
              <a:avLst/>
              <a:gdLst/>
              <a:ahLst/>
              <a:cxnLst/>
              <a:rect l="l" t="t" r="r" b="b"/>
              <a:pathLst>
                <a:path w="5905500" h="1866900">
                  <a:moveTo>
                    <a:pt x="0" y="1866900"/>
                  </a:moveTo>
                  <a:lnTo>
                    <a:pt x="762000" y="1200150"/>
                  </a:lnTo>
                  <a:lnTo>
                    <a:pt x="1524000" y="723900"/>
                  </a:lnTo>
                  <a:lnTo>
                    <a:pt x="2286000" y="361950"/>
                  </a:lnTo>
                  <a:lnTo>
                    <a:pt x="3048000" y="133350"/>
                  </a:lnTo>
                  <a:lnTo>
                    <a:pt x="3810000" y="38100"/>
                  </a:lnTo>
                  <a:lnTo>
                    <a:pt x="4572000" y="9525"/>
                  </a:lnTo>
                  <a:lnTo>
                    <a:pt x="5334000" y="0"/>
                  </a:lnTo>
                  <a:lnTo>
                    <a:pt x="5905500" y="0"/>
                  </a:lnTo>
                </a:path>
              </a:pathLst>
            </a:custGeom>
            <a:noFill/>
            <a:ln w="38100">
              <a:solidFill>
                <a:srgbClr val="00A6A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81125" y="404812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143125" y="338137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905125" y="290512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667125" y="254317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429125" y="231457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191125" y="221932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953125" y="2190750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715125" y="218122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286625" y="2181225"/>
              <a:ext cx="95250" cy="9525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000750" y="1981200"/>
              <a:ext cx="9525" cy="2533650"/>
            </a:xfrm>
            <a:custGeom>
              <a:avLst/>
              <a:gdLst/>
              <a:ahLst/>
              <a:cxnLst/>
              <a:rect l="l" t="t" r="r" b="b"/>
              <a:pathLst>
                <a:path w="9525" h="2533650">
                  <a:moveTo>
                    <a:pt x="0" y="0"/>
                  </a:moveTo>
                  <a:lnTo>
                    <a:pt x="0" y="2533650"/>
                  </a:lnTo>
                </a:path>
              </a:pathLst>
            </a:custGeom>
            <a:noFill/>
            <a:ln w="19050">
              <a:solidFill>
                <a:srgbClr val="D97706"/>
              </a:solidFill>
              <a:custDash>
                <a:ds d="300000" sp="30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08192" y="2006918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06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patience 触发</a:t>
              </a:r>
              <a:endParaRPr lang="zh-CN" sz="1350" b="1" dirty="0">
                <a:solidFill>
                  <a:srgbClr val="D9770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0754" y="465201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iteration</a:t>
              </a:r>
              <a:endParaRPr lang="en-US" sz="120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604" y="1946910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loss</a:t>
              </a:r>
              <a:endParaRPr lang="en-US" sz="120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8477250" y="1619250"/>
            <a:ext cx="2724150" cy="3143250"/>
          </a:xfrm>
          <a:custGeom>
            <a:avLst/>
            <a:gdLst/>
            <a:ahLst/>
            <a:cxnLst/>
            <a:rect l="l" t="t" r="r" b="b"/>
            <a:pathLst>
              <a:path w="2724150" h="3143250">
                <a:moveTo>
                  <a:pt x="57150" y="0"/>
                </a:moveTo>
                <a:lnTo>
                  <a:pt x="2667000" y="0"/>
                </a:lnTo>
                <a:cubicBezTo>
                  <a:pt x="2698563" y="0"/>
                  <a:pt x="2724150" y="25587"/>
                  <a:pt x="2724150" y="57150"/>
                </a:cubicBezTo>
                <a:lnTo>
                  <a:pt x="2724150" y="3086100"/>
                </a:lnTo>
                <a:cubicBezTo>
                  <a:pt x="2724150" y="3117663"/>
                  <a:pt x="2698563" y="3143250"/>
                  <a:pt x="2667000" y="3143250"/>
                </a:cubicBezTo>
                <a:lnTo>
                  <a:pt x="57150" y="3143250"/>
                </a:lnTo>
                <a:cubicBezTo>
                  <a:pt x="25587" y="3143250"/>
                  <a:pt x="0" y="3117663"/>
                  <a:pt x="0" y="3086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33282" y="18116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实现要点</a:t>
            </a:r>
            <a:endParaRPr lang="zh-CN" sz="210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7" name="Ellipse 27"/>
          <p:cNvSpPr/>
          <p:nvPr/>
        </p:nvSpPr>
        <p:spPr>
          <a:xfrm>
            <a:off x="8743950" y="2419350"/>
            <a:ext cx="76200" cy="762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45880" y="2352675"/>
            <a:ext cx="1696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MST / PnP 初始化</a:t>
            </a:r>
            <a:endParaRPr lang="zh-CN" sz="1500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9" name="Ellipse 29"/>
          <p:cNvSpPr/>
          <p:nvPr/>
        </p:nvSpPr>
        <p:spPr>
          <a:xfrm>
            <a:off x="8743950" y="2819400"/>
            <a:ext cx="76200" cy="762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945880" y="2752725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global_alignment_loop</a:t>
            </a:r>
            <a:endParaRPr lang="en-US" sz="1500" dirty="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Ellipse 31"/>
          <p:cNvSpPr/>
          <p:nvPr/>
        </p:nvSpPr>
        <p:spPr>
          <a:xfrm>
            <a:off x="8743950" y="3219450"/>
            <a:ext cx="76200" cy="762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945880" y="3152775"/>
            <a:ext cx="22970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min_iter / check_every</a:t>
            </a:r>
            <a:endParaRPr lang="en-US" sz="1500" dirty="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Ellipse 33"/>
          <p:cNvSpPr/>
          <p:nvPr/>
        </p:nvSpPr>
        <p:spPr>
          <a:xfrm>
            <a:off x="8743950" y="3619500"/>
            <a:ext cx="76200" cy="762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945880" y="3552825"/>
            <a:ext cx="17619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rel_tol / patience</a:t>
            </a:r>
            <a:endParaRPr lang="en-US" sz="1500" dirty="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" name="Ellipse 35"/>
          <p:cNvSpPr/>
          <p:nvPr/>
        </p:nvSpPr>
        <p:spPr>
          <a:xfrm>
            <a:off x="8743950" y="4019550"/>
            <a:ext cx="76200" cy="7620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945880" y="3952875"/>
            <a:ext cx="2579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last_alignment_iterations</a:t>
            </a:r>
            <a:endParaRPr lang="en-US" sz="1500" dirty="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66013" y="5477351"/>
            <a:ext cx="774894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早停把固定迭代黑盒变成可记录、可解释、可控的验收步骤。</a:t>
            </a:r>
            <a:endParaRPr lang="zh-CN" sz="202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38" name="Line 3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11/18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1305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ROBUST TRAINING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稳健训练与数据扰动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819150" y="1657350"/>
            <a:ext cx="3028950" cy="2438400"/>
          </a:xfrm>
          <a:custGeom>
            <a:avLst/>
            <a:gdLst/>
            <a:ahLst/>
            <a:cxnLst/>
            <a:rect l="l" t="t" r="r" b="b"/>
            <a:pathLst>
              <a:path w="3028950" h="2438400">
                <a:moveTo>
                  <a:pt x="57150" y="0"/>
                </a:moveTo>
                <a:lnTo>
                  <a:pt x="2971800" y="0"/>
                </a:lnTo>
                <a:cubicBezTo>
                  <a:pt x="3003363" y="0"/>
                  <a:pt x="3028950" y="25587"/>
                  <a:pt x="3028950" y="57150"/>
                </a:cubicBezTo>
                <a:lnTo>
                  <a:pt x="3028950" y="2381250"/>
                </a:lnTo>
                <a:cubicBezTo>
                  <a:pt x="3028950" y="2412813"/>
                  <a:pt x="3003363" y="2438400"/>
                  <a:pt x="2971800" y="2438400"/>
                </a:cubicBezTo>
                <a:lnTo>
                  <a:pt x="57150" y="2438400"/>
                </a:lnTo>
                <a:cubicBezTo>
                  <a:pt x="25587" y="2438400"/>
                  <a:pt x="0" y="2412813"/>
                  <a:pt x="0" y="2381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138237" y="2052637"/>
            <a:ext cx="314325" cy="314324"/>
            <a:chOff x="1138237" y="2052637"/>
            <a:chExt cx="314325" cy="314324"/>
          </a:xfrm>
        </p:grpSpPr>
        <p:sp>
          <p:nvSpPr>
            <p:cNvPr id="8" name="Freeform 8"/>
            <p:cNvSpPr/>
            <p:nvPr/>
          </p:nvSpPr>
          <p:spPr>
            <a:xfrm>
              <a:off x="1138237" y="2052637"/>
              <a:ext cx="314324" cy="314324"/>
            </a:xfrm>
            <a:custGeom>
              <a:avLst/>
              <a:gdLst/>
              <a:ahLst/>
              <a:cxnLst/>
              <a:rect l="l" t="t" r="r" b="b"/>
              <a:pathLst>
                <a:path w="314324" h="314324">
                  <a:moveTo>
                    <a:pt x="52387" y="314324"/>
                  </a:moveTo>
                  <a:lnTo>
                    <a:pt x="314324" y="52387"/>
                  </a:lnTo>
                  <a:lnTo>
                    <a:pt x="261937" y="0"/>
                  </a:lnTo>
                  <a:lnTo>
                    <a:pt x="0" y="261937"/>
                  </a:lnTo>
                  <a:lnTo>
                    <a:pt x="52387" y="314324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47787" y="2105025"/>
              <a:ext cx="52387" cy="52387"/>
            </a:xfrm>
            <a:custGeom>
              <a:avLst/>
              <a:gdLst/>
              <a:ahLst/>
              <a:cxnLst/>
              <a:rect l="l" t="t" r="r" b="b"/>
              <a:pathLst>
                <a:path w="52387" h="52387">
                  <a:moveTo>
                    <a:pt x="0" y="0"/>
                  </a:moveTo>
                  <a:lnTo>
                    <a:pt x="52387" y="52387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08087" y="2052637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34925" y="0"/>
                  </a:moveTo>
                  <a:cubicBezTo>
                    <a:pt x="34925" y="19289"/>
                    <a:pt x="50561" y="34925"/>
                    <a:pt x="69850" y="34925"/>
                  </a:cubicBezTo>
                  <a:cubicBezTo>
                    <a:pt x="50561" y="34925"/>
                    <a:pt x="34925" y="50561"/>
                    <a:pt x="34925" y="69850"/>
                  </a:cubicBezTo>
                  <a:cubicBezTo>
                    <a:pt x="34925" y="50561"/>
                    <a:pt x="19289" y="34925"/>
                    <a:pt x="0" y="34925"/>
                  </a:cubicBezTo>
                  <a:cubicBezTo>
                    <a:pt x="19289" y="34925"/>
                    <a:pt x="34925" y="19289"/>
                    <a:pt x="34925" y="0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82712" y="2227262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34925" y="0"/>
                  </a:moveTo>
                  <a:cubicBezTo>
                    <a:pt x="34925" y="19289"/>
                    <a:pt x="50561" y="34925"/>
                    <a:pt x="69850" y="34925"/>
                  </a:cubicBezTo>
                  <a:cubicBezTo>
                    <a:pt x="50561" y="34925"/>
                    <a:pt x="34925" y="50561"/>
                    <a:pt x="34925" y="69850"/>
                  </a:cubicBezTo>
                  <a:cubicBezTo>
                    <a:pt x="34925" y="50561"/>
                    <a:pt x="19289" y="34925"/>
                    <a:pt x="0" y="34925"/>
                  </a:cubicBezTo>
                  <a:cubicBezTo>
                    <a:pt x="19289" y="34925"/>
                    <a:pt x="34925" y="19289"/>
                    <a:pt x="34925" y="0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75944" y="2589848"/>
            <a:ext cx="203030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RGB corruption</a:t>
            </a:r>
            <a:endParaRPr lang="en-US" sz="195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7420" y="3092450"/>
            <a:ext cx="2772410" cy="507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模拟模糊、低光照、压缩等输入退化</a:t>
            </a:r>
            <a:endParaRPr lang="zh-CN" sz="16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3943350" y="2876550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4362450" y="2819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495800" y="1657350"/>
            <a:ext cx="3028950" cy="2438400"/>
          </a:xfrm>
          <a:custGeom>
            <a:avLst/>
            <a:gdLst/>
            <a:ahLst/>
            <a:cxnLst/>
            <a:rect l="l" t="t" r="r" b="b"/>
            <a:pathLst>
              <a:path w="3028950" h="2438400">
                <a:moveTo>
                  <a:pt x="57150" y="0"/>
                </a:moveTo>
                <a:lnTo>
                  <a:pt x="2971800" y="0"/>
                </a:lnTo>
                <a:cubicBezTo>
                  <a:pt x="3003363" y="0"/>
                  <a:pt x="3028950" y="25587"/>
                  <a:pt x="3028950" y="57150"/>
                </a:cubicBezTo>
                <a:lnTo>
                  <a:pt x="3028950" y="2381250"/>
                </a:lnTo>
                <a:cubicBezTo>
                  <a:pt x="3028950" y="2412813"/>
                  <a:pt x="3003363" y="2438400"/>
                  <a:pt x="2971800" y="2438400"/>
                </a:cubicBezTo>
                <a:lnTo>
                  <a:pt x="57150" y="2438400"/>
                </a:lnTo>
                <a:cubicBezTo>
                  <a:pt x="25587" y="2438400"/>
                  <a:pt x="0" y="2412813"/>
                  <a:pt x="0" y="2381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4832350" y="2052637"/>
            <a:ext cx="279399" cy="314325"/>
            <a:chOff x="4832350" y="2052637"/>
            <a:chExt cx="279399" cy="314325"/>
          </a:xfrm>
        </p:grpSpPr>
        <p:sp>
          <p:nvSpPr>
            <p:cNvPr id="18" name="Freeform 18"/>
            <p:cNvSpPr/>
            <p:nvPr/>
          </p:nvSpPr>
          <p:spPr>
            <a:xfrm>
              <a:off x="4832350" y="2052637"/>
              <a:ext cx="279399" cy="104775"/>
            </a:xfrm>
            <a:custGeom>
              <a:avLst/>
              <a:gdLst/>
              <a:ahLst/>
              <a:cxnLst/>
              <a:rect l="l" t="t" r="r" b="b"/>
              <a:pathLst>
                <a:path w="279399" h="104775">
                  <a:moveTo>
                    <a:pt x="0" y="52387"/>
                  </a:moveTo>
                  <a:cubicBezTo>
                    <a:pt x="0" y="81320"/>
                    <a:pt x="62546" y="104775"/>
                    <a:pt x="139700" y="104775"/>
                  </a:cubicBezTo>
                  <a:cubicBezTo>
                    <a:pt x="216854" y="104775"/>
                    <a:pt x="279399" y="81320"/>
                    <a:pt x="279399" y="52387"/>
                  </a:cubicBezTo>
                  <a:cubicBezTo>
                    <a:pt x="279399" y="23455"/>
                    <a:pt x="216854" y="0"/>
                    <a:pt x="139700" y="0"/>
                  </a:cubicBezTo>
                  <a:cubicBezTo>
                    <a:pt x="62546" y="0"/>
                    <a:pt x="0" y="23455"/>
                    <a:pt x="0" y="52387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32350" y="2105025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32350" y="2209800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4752594" y="2589848"/>
            <a:ext cx="281750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7324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corruption metadata</a:t>
            </a:r>
            <a:endParaRPr lang="en-US" sz="1950" b="1" dirty="0">
              <a:solidFill>
                <a:srgbClr val="17324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620895" y="3098800"/>
            <a:ext cx="2773680" cy="507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把扰动信息写入 sample 级元数据</a:t>
            </a:r>
            <a:endParaRPr lang="zh-CN" sz="16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7620000" y="2876550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039100" y="2819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0" y="114300"/>
                </a:lnTo>
                <a:lnTo>
                  <a:pt x="114300" y="57150"/>
                </a:ln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8172450" y="1657350"/>
            <a:ext cx="3028950" cy="2438400"/>
          </a:xfrm>
          <a:custGeom>
            <a:avLst/>
            <a:gdLst/>
            <a:ahLst/>
            <a:cxnLst/>
            <a:rect l="l" t="t" r="r" b="b"/>
            <a:pathLst>
              <a:path w="3028950" h="2438400">
                <a:moveTo>
                  <a:pt x="57150" y="0"/>
                </a:moveTo>
                <a:lnTo>
                  <a:pt x="2971800" y="0"/>
                </a:lnTo>
                <a:cubicBezTo>
                  <a:pt x="3003363" y="0"/>
                  <a:pt x="3028950" y="25587"/>
                  <a:pt x="3028950" y="57150"/>
                </a:cubicBezTo>
                <a:lnTo>
                  <a:pt x="3028950" y="2381250"/>
                </a:lnTo>
                <a:cubicBezTo>
                  <a:pt x="3028950" y="2412813"/>
                  <a:pt x="3003363" y="2438400"/>
                  <a:pt x="2971800" y="2438400"/>
                </a:cubicBezTo>
                <a:lnTo>
                  <a:pt x="57150" y="2438400"/>
                </a:lnTo>
                <a:cubicBezTo>
                  <a:pt x="25587" y="2438400"/>
                  <a:pt x="0" y="2412813"/>
                  <a:pt x="0" y="2381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484265" y="2052637"/>
            <a:ext cx="328869" cy="314324"/>
          </a:xfrm>
          <a:custGeom>
            <a:avLst/>
            <a:gdLst/>
            <a:ahLst/>
            <a:cxnLst/>
            <a:rect l="l" t="t" r="r" b="b"/>
            <a:pathLst>
              <a:path w="328869" h="314324">
                <a:moveTo>
                  <a:pt x="164434" y="0"/>
                </a:moveTo>
                <a:cubicBezTo>
                  <a:pt x="205224" y="36088"/>
                  <a:pt x="258461" y="54877"/>
                  <a:pt x="312865" y="52387"/>
                </a:cubicBezTo>
                <a:cubicBezTo>
                  <a:pt x="328869" y="106827"/>
                  <a:pt x="322110" y="165430"/>
                  <a:pt x="294135" y="214798"/>
                </a:cubicBezTo>
                <a:cubicBezTo>
                  <a:pt x="266160" y="264165"/>
                  <a:pt x="219360" y="300078"/>
                  <a:pt x="164434" y="314324"/>
                </a:cubicBezTo>
                <a:cubicBezTo>
                  <a:pt x="109509" y="300078"/>
                  <a:pt x="62709" y="264165"/>
                  <a:pt x="34734" y="214798"/>
                </a:cubicBezTo>
                <a:cubicBezTo>
                  <a:pt x="6758" y="165430"/>
                  <a:pt x="0" y="106827"/>
                  <a:pt x="16003" y="52387"/>
                </a:cubicBezTo>
                <a:cubicBezTo>
                  <a:pt x="70408" y="54877"/>
                  <a:pt x="123645" y="36088"/>
                  <a:pt x="164434" y="0"/>
                </a:cubicBezTo>
              </a:path>
            </a:pathLst>
          </a:custGeom>
          <a:noFill/>
          <a:ln w="19050">
            <a:solidFill>
              <a:srgbClr val="00A6A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429244" y="2589848"/>
            <a:ext cx="302422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7324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geometry_loss_weight</a:t>
            </a:r>
            <a:endParaRPr lang="en-US" sz="1950" b="1" dirty="0">
              <a:solidFill>
                <a:srgbClr val="17324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84235" y="3046730"/>
            <a:ext cx="3037840" cy="507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对几何噪声样本下调 GT</a:t>
            </a:r>
            <a:r>
              <a:rPr lang="en-US" alt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 </a:t>
            </a:r>
            <a:r>
              <a:rPr 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geometry loss</a:t>
            </a:r>
            <a:r>
              <a:rPr lang="en-US" altLang="zh-CN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 </a:t>
            </a:r>
            <a:r>
              <a:rPr lang="zh-CN" altLang="en-US" sz="16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权重</a:t>
            </a:r>
            <a:endParaRPr lang="zh-CN" altLang="en-US" sz="16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819150" y="4572000"/>
            <a:ext cx="10363200" cy="723900"/>
          </a:xfrm>
          <a:custGeom>
            <a:avLst/>
            <a:gdLst/>
            <a:ahLst/>
            <a:cxnLst/>
            <a:rect l="l" t="t" r="r" b="b"/>
            <a:pathLst>
              <a:path w="10363200" h="723900">
                <a:moveTo>
                  <a:pt x="57150" y="0"/>
                </a:moveTo>
                <a:lnTo>
                  <a:pt x="10306050" y="0"/>
                </a:lnTo>
                <a:cubicBezTo>
                  <a:pt x="10337613" y="0"/>
                  <a:pt x="10363200" y="25587"/>
                  <a:pt x="10363200" y="57150"/>
                </a:cubicBezTo>
                <a:lnTo>
                  <a:pt x="10363200" y="666750"/>
                </a:lnTo>
                <a:cubicBezTo>
                  <a:pt x="10363200" y="698313"/>
                  <a:pt x="10337613" y="723900"/>
                  <a:pt x="10306050" y="723900"/>
                </a:cubicBezTo>
                <a:lnTo>
                  <a:pt x="57150" y="723900"/>
                </a:lnTo>
                <a:cubicBezTo>
                  <a:pt x="25587" y="723900"/>
                  <a:pt x="0" y="698313"/>
                  <a:pt x="0" y="666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95756" y="4834890"/>
            <a:ext cx="703389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未达到行业 SOTA，重点是把低质量输入问题扩展到训练稳健性设计。</a:t>
            </a:r>
            <a:endParaRPr lang="zh-CN" sz="180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98804" y="5452110"/>
            <a:ext cx="87477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6B7A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相关文件：corruptions.py、mvdataset.py、losses.py、train_mvd_phase2_robust.sh、train_mvdp_stage2_robust.sh</a:t>
            </a:r>
            <a:endParaRPr lang="zh-CN" sz="1200" dirty="0">
              <a:solidFill>
                <a:srgbClr val="5C6B7A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12/18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977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TEST MATRIX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2574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完整测试设计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352550"/>
            <a:ext cx="5086350" cy="3829050"/>
          </a:xfrm>
          <a:custGeom>
            <a:avLst/>
            <a:gdLst/>
            <a:ahLst/>
            <a:cxnLst/>
            <a:rect l="l" t="t" r="r" b="b"/>
            <a:pathLst>
              <a:path w="5086350" h="3829050">
                <a:moveTo>
                  <a:pt x="57150" y="0"/>
                </a:moveTo>
                <a:lnTo>
                  <a:pt x="5029200" y="0"/>
                </a:lnTo>
                <a:cubicBezTo>
                  <a:pt x="5060763" y="0"/>
                  <a:pt x="5086350" y="25587"/>
                  <a:pt x="5086350" y="57150"/>
                </a:cubicBezTo>
                <a:lnTo>
                  <a:pt x="5086350" y="3771900"/>
                </a:lnTo>
                <a:cubicBezTo>
                  <a:pt x="5086350" y="3803463"/>
                  <a:pt x="5060763" y="3829050"/>
                  <a:pt x="5029200" y="3829050"/>
                </a:cubicBezTo>
                <a:lnTo>
                  <a:pt x="57150" y="3829050"/>
                </a:lnTo>
                <a:cubicBezTo>
                  <a:pt x="25587" y="3829050"/>
                  <a:pt x="0" y="3803463"/>
                  <a:pt x="0" y="3771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84682" y="1525905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测试数据组</a:t>
            </a:r>
            <a:endParaRPr lang="zh-CN" sz="210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95350" y="2190750"/>
            <a:ext cx="4210050" cy="476250"/>
          </a:xfrm>
          <a:custGeom>
            <a:avLst/>
            <a:gdLst/>
            <a:ahLst/>
            <a:cxnLst/>
            <a:rect l="l" t="t" r="r" b="b"/>
            <a:pathLst>
              <a:path w="4210050" h="47625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438150"/>
                </a:lnTo>
                <a:cubicBezTo>
                  <a:pt x="4210050" y="459192"/>
                  <a:pt x="4192992" y="476250"/>
                  <a:pt x="417195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97280" y="2333625"/>
            <a:ext cx="16584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clean-turntable</a:t>
            </a:r>
            <a:endParaRPr lang="en-US" sz="15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31261" y="23417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干净转台场景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95350" y="2838450"/>
            <a:ext cx="4210050" cy="476250"/>
          </a:xfrm>
          <a:custGeom>
            <a:avLst/>
            <a:gdLst/>
            <a:ahLst/>
            <a:cxnLst/>
            <a:rect l="l" t="t" r="r" b="b"/>
            <a:pathLst>
              <a:path w="4210050" h="47625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438150"/>
                </a:lnTo>
                <a:cubicBezTo>
                  <a:pt x="4210050" y="459192"/>
                  <a:pt x="4192992" y="476250"/>
                  <a:pt x="417195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97280" y="2981325"/>
            <a:ext cx="11813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desk-scene</a:t>
            </a:r>
            <a:endParaRPr lang="en-US" sz="15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231261" y="29894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桌面遮挡场景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95350" y="3486150"/>
            <a:ext cx="4210050" cy="476250"/>
          </a:xfrm>
          <a:custGeom>
            <a:avLst/>
            <a:gdLst/>
            <a:ahLst/>
            <a:cxnLst/>
            <a:rect l="l" t="t" r="r" b="b"/>
            <a:pathLst>
              <a:path w="4210050" h="47625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438150"/>
                </a:lnTo>
                <a:cubicBezTo>
                  <a:pt x="4210050" y="459192"/>
                  <a:pt x="4192992" y="476250"/>
                  <a:pt x="417195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97280" y="3629025"/>
            <a:ext cx="9481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low-light</a:t>
            </a:r>
            <a:endParaRPr lang="en-US" sz="15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231261" y="3637121"/>
            <a:ext cx="9736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低光照输入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95350" y="4133850"/>
            <a:ext cx="4210050" cy="476250"/>
          </a:xfrm>
          <a:custGeom>
            <a:avLst/>
            <a:gdLst/>
            <a:ahLst/>
            <a:cxnLst/>
            <a:rect l="l" t="t" r="r" b="b"/>
            <a:pathLst>
              <a:path w="4210050" h="476250">
                <a:moveTo>
                  <a:pt x="38100" y="0"/>
                </a:moveTo>
                <a:lnTo>
                  <a:pt x="4171950" y="0"/>
                </a:lnTo>
                <a:cubicBezTo>
                  <a:pt x="4192992" y="0"/>
                  <a:pt x="4210050" y="17058"/>
                  <a:pt x="4210050" y="38100"/>
                </a:cubicBezTo>
                <a:lnTo>
                  <a:pt x="4210050" y="438150"/>
                </a:lnTo>
                <a:cubicBezTo>
                  <a:pt x="4210050" y="459192"/>
                  <a:pt x="4192992" y="476250"/>
                  <a:pt x="417195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97280" y="4276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mixed-noise</a:t>
            </a:r>
            <a:endParaRPr lang="en-US" sz="150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231261" y="42848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混合噪声输入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0555" y="4781550"/>
            <a:ext cx="5065395" cy="242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每组 24 张图像；覆盖功能、性能、鲁棒性、消融和部署。</a:t>
            </a:r>
            <a:endParaRPr lang="zh-CN" sz="158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6153150" y="1352550"/>
            <a:ext cx="5429250" cy="3829050"/>
          </a:xfrm>
          <a:custGeom>
            <a:avLst/>
            <a:gdLst/>
            <a:ahLst/>
            <a:cxnLst/>
            <a:rect l="l" t="t" r="r" b="b"/>
            <a:pathLst>
              <a:path w="5429250" h="3829050">
                <a:moveTo>
                  <a:pt x="57150" y="0"/>
                </a:moveTo>
                <a:lnTo>
                  <a:pt x="5372100" y="0"/>
                </a:lnTo>
                <a:cubicBezTo>
                  <a:pt x="5403663" y="0"/>
                  <a:pt x="5429250" y="25587"/>
                  <a:pt x="5429250" y="57150"/>
                </a:cubicBezTo>
                <a:lnTo>
                  <a:pt x="5429250" y="3771900"/>
                </a:lnTo>
                <a:cubicBezTo>
                  <a:pt x="5429250" y="3803463"/>
                  <a:pt x="5403663" y="3829050"/>
                  <a:pt x="5372100" y="3829050"/>
                </a:cubicBezTo>
                <a:lnTo>
                  <a:pt x="57150" y="3829050"/>
                </a:lnTo>
                <a:cubicBezTo>
                  <a:pt x="25587" y="3829050"/>
                  <a:pt x="0" y="3803463"/>
                  <a:pt x="0" y="3771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23" name="Imag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700" y="1602105"/>
            <a:ext cx="5010150" cy="300609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6240145" y="4730750"/>
            <a:ext cx="59519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指标：成功率、平均耗时、重投影误差、峰值显存、导出可读性</a:t>
            </a:r>
            <a:endParaRPr lang="zh-CN" sz="1500" b="1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25" name="Line 25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13/18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658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RESULTS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实验结果一：成功率与精度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314450"/>
            <a:ext cx="2476500" cy="858012"/>
            <a:chOff x="609600" y="1314450"/>
            <a:chExt cx="2476500" cy="858012"/>
          </a:xfrm>
        </p:grpSpPr>
        <p:sp>
          <p:nvSpPr>
            <p:cNvPr id="7" name="Freeform 7"/>
            <p:cNvSpPr/>
            <p:nvPr/>
          </p:nvSpPr>
          <p:spPr>
            <a:xfrm>
              <a:off x="609600" y="1314450"/>
              <a:ext cx="2476500" cy="819150"/>
            </a:xfrm>
            <a:custGeom>
              <a:avLst/>
              <a:gdLst/>
              <a:ahLst/>
              <a:cxnLst/>
              <a:rect l="l" t="t" r="r" b="b"/>
              <a:pathLst>
                <a:path w="2476500" h="8191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762000"/>
                  </a:lnTo>
                  <a:cubicBezTo>
                    <a:pt x="2476500" y="793563"/>
                    <a:pt x="2450913" y="819150"/>
                    <a:pt x="2419350" y="819150"/>
                  </a:cubicBezTo>
                  <a:lnTo>
                    <a:pt x="57150" y="819150"/>
                  </a:lnTo>
                  <a:cubicBezTo>
                    <a:pt x="25587" y="819150"/>
                    <a:pt x="0" y="793563"/>
                    <a:pt x="0" y="762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" y="1481614"/>
              <a:ext cx="1343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clean-turntable</a:t>
              </a:r>
              <a:endParaRPr lang="en-US" sz="128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8858" y="170307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AD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96%</a:t>
              </a:r>
              <a:endParaRPr lang="en-US" sz="2400" b="1" dirty="0">
                <a:solidFill>
                  <a:srgbClr val="2EAD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76600" y="1314450"/>
            <a:ext cx="2476500" cy="858012"/>
            <a:chOff x="3276600" y="1314450"/>
            <a:chExt cx="2476500" cy="858012"/>
          </a:xfrm>
        </p:grpSpPr>
        <p:sp>
          <p:nvSpPr>
            <p:cNvPr id="11" name="Freeform 11"/>
            <p:cNvSpPr/>
            <p:nvPr/>
          </p:nvSpPr>
          <p:spPr>
            <a:xfrm>
              <a:off x="3276600" y="1314450"/>
              <a:ext cx="2476500" cy="819150"/>
            </a:xfrm>
            <a:custGeom>
              <a:avLst/>
              <a:gdLst/>
              <a:ahLst/>
              <a:cxnLst/>
              <a:rect l="l" t="t" r="r" b="b"/>
              <a:pathLst>
                <a:path w="2476500" h="8191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762000"/>
                  </a:lnTo>
                  <a:cubicBezTo>
                    <a:pt x="2476500" y="793563"/>
                    <a:pt x="2450913" y="819150"/>
                    <a:pt x="2419350" y="819150"/>
                  </a:cubicBezTo>
                  <a:lnTo>
                    <a:pt x="57150" y="819150"/>
                  </a:lnTo>
                  <a:cubicBezTo>
                    <a:pt x="25587" y="819150"/>
                    <a:pt x="0" y="793563"/>
                    <a:pt x="0" y="762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1573" y="1481614"/>
              <a:ext cx="956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desk-scene</a:t>
              </a:r>
              <a:endParaRPr lang="en-US" sz="128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35858" y="170307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AD6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92%</a:t>
              </a:r>
              <a:endParaRPr lang="en-US" sz="2400" b="1" dirty="0">
                <a:solidFill>
                  <a:srgbClr val="2EAD6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43600" y="1314450"/>
            <a:ext cx="2476500" cy="858012"/>
            <a:chOff x="5943600" y="1314450"/>
            <a:chExt cx="2476500" cy="858012"/>
          </a:xfrm>
        </p:grpSpPr>
        <p:sp>
          <p:nvSpPr>
            <p:cNvPr id="15" name="Freeform 15"/>
            <p:cNvSpPr/>
            <p:nvPr/>
          </p:nvSpPr>
          <p:spPr>
            <a:xfrm>
              <a:off x="5943600" y="1314450"/>
              <a:ext cx="2476500" cy="819150"/>
            </a:xfrm>
            <a:custGeom>
              <a:avLst/>
              <a:gdLst/>
              <a:ahLst/>
              <a:cxnLst/>
              <a:rect l="l" t="t" r="r" b="b"/>
              <a:pathLst>
                <a:path w="2476500" h="8191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762000"/>
                  </a:lnTo>
                  <a:cubicBezTo>
                    <a:pt x="2476500" y="793563"/>
                    <a:pt x="2450913" y="819150"/>
                    <a:pt x="2419350" y="819150"/>
                  </a:cubicBezTo>
                  <a:lnTo>
                    <a:pt x="57150" y="819150"/>
                  </a:lnTo>
                  <a:cubicBezTo>
                    <a:pt x="25587" y="819150"/>
                    <a:pt x="0" y="793563"/>
                    <a:pt x="0" y="762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573" y="1481614"/>
              <a:ext cx="768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low-light</a:t>
              </a:r>
              <a:endParaRPr lang="en-US" sz="128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2858" y="170307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86%</a:t>
              </a:r>
              <a:endParaRPr lang="en-US" sz="240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610600" y="1314450"/>
            <a:ext cx="2476500" cy="858012"/>
            <a:chOff x="8610600" y="1314450"/>
            <a:chExt cx="2476500" cy="858012"/>
          </a:xfrm>
        </p:grpSpPr>
        <p:sp>
          <p:nvSpPr>
            <p:cNvPr id="19" name="Freeform 19"/>
            <p:cNvSpPr/>
            <p:nvPr/>
          </p:nvSpPr>
          <p:spPr>
            <a:xfrm>
              <a:off x="8610600" y="1314450"/>
              <a:ext cx="2476500" cy="819150"/>
            </a:xfrm>
            <a:custGeom>
              <a:avLst/>
              <a:gdLst/>
              <a:ahLst/>
              <a:cxnLst/>
              <a:rect l="l" t="t" r="r" b="b"/>
              <a:pathLst>
                <a:path w="2476500" h="8191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762000"/>
                  </a:lnTo>
                  <a:cubicBezTo>
                    <a:pt x="2476500" y="793563"/>
                    <a:pt x="2450913" y="819150"/>
                    <a:pt x="2419350" y="819150"/>
                  </a:cubicBezTo>
                  <a:lnTo>
                    <a:pt x="57150" y="819150"/>
                  </a:lnTo>
                  <a:cubicBezTo>
                    <a:pt x="25587" y="819150"/>
                    <a:pt x="0" y="793563"/>
                    <a:pt x="0" y="762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75573" y="1481614"/>
              <a:ext cx="999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C6B7A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mixed-noise</a:t>
              </a:r>
              <a:endParaRPr lang="en-US" sz="1280" dirty="0">
                <a:solidFill>
                  <a:srgbClr val="5C6B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69858" y="1703070"/>
              <a:ext cx="651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9770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80%</a:t>
              </a:r>
              <a:endParaRPr lang="en-US" sz="2400" b="1" dirty="0">
                <a:solidFill>
                  <a:srgbClr val="D9770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>
            <a:off x="895350" y="2609850"/>
            <a:ext cx="10401300" cy="2667000"/>
          </a:xfrm>
          <a:custGeom>
            <a:avLst/>
            <a:gdLst/>
            <a:ahLst/>
            <a:cxnLst/>
            <a:rect l="l" t="t" r="r" b="b"/>
            <a:pathLst>
              <a:path w="10401300" h="2667000">
                <a:moveTo>
                  <a:pt x="57150" y="0"/>
                </a:moveTo>
                <a:lnTo>
                  <a:pt x="10344150" y="0"/>
                </a:lnTo>
                <a:cubicBezTo>
                  <a:pt x="10375713" y="0"/>
                  <a:pt x="10401300" y="25587"/>
                  <a:pt x="10401300" y="57150"/>
                </a:cubicBezTo>
                <a:lnTo>
                  <a:pt x="10401300" y="2609850"/>
                </a:lnTo>
                <a:cubicBezTo>
                  <a:pt x="10401300" y="2641413"/>
                  <a:pt x="10375713" y="2667000"/>
                  <a:pt x="1034415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74242" y="2883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数据组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650742" y="2883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图像数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888992" y="28832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成功率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317742" y="28832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平均耗时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956042" y="28832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重投影误差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518142" y="28832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说明</a:t>
            </a:r>
            <a:endParaRPr lang="zh-CN" sz="13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1143000" y="32004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11430">
            <a:solidFill>
              <a:srgbClr val="C8D4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173861" y="3465671"/>
            <a:ext cx="150118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clean-turntable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650361" y="3465671"/>
            <a:ext cx="2254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888611" y="3465671"/>
            <a:ext cx="3871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96%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317361" y="34656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211s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955661" y="3465671"/>
            <a:ext cx="6475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0.42px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517761" y="3465671"/>
            <a:ext cx="17409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结构完整，纹理连续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37" name="Line 37"/>
          <p:cNvSpPr/>
          <p:nvPr/>
        </p:nvSpPr>
        <p:spPr>
          <a:xfrm>
            <a:off x="1143000" y="38100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73861" y="3941921"/>
            <a:ext cx="1069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desk-scene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650361" y="3941921"/>
            <a:ext cx="2254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888611" y="3941921"/>
            <a:ext cx="3871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92%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317361" y="394192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236s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955661" y="3941921"/>
            <a:ext cx="6475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0.53px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517761" y="39419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遮挡区域可控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1143000" y="428625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173861" y="4418171"/>
            <a:ext cx="8585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low-light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650361" y="4418171"/>
            <a:ext cx="2254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888611" y="4418171"/>
            <a:ext cx="3871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86%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317361" y="441817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248s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955661" y="4418171"/>
            <a:ext cx="6475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0.66px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517761" y="4418171"/>
            <a:ext cx="1357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低光照稳定输出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1143000" y="476250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3861" y="4894421"/>
            <a:ext cx="11175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mixed-noise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650361" y="4894421"/>
            <a:ext cx="2254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888611" y="4894421"/>
            <a:ext cx="3871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80%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317361" y="4894421"/>
            <a:ext cx="4365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271s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7955661" y="4894421"/>
            <a:ext cx="6475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1B243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0.79px</a:t>
            </a:r>
            <a:endParaRPr lang="en-US" sz="1420" dirty="0">
              <a:solidFill>
                <a:srgbClr val="1B243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517761" y="4894421"/>
            <a:ext cx="11654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鲁棒策略有效</a:t>
            </a:r>
            <a:endParaRPr lang="zh-CN" sz="142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8" name="Line 58"/>
          <p:cNvSpPr/>
          <p:nvPr/>
        </p:nvSpPr>
        <p:spPr>
          <a:xfrm>
            <a:off x="1143000" y="5238750"/>
            <a:ext cx="9791700" cy="9525"/>
          </a:xfrm>
          <a:custGeom>
            <a:avLst/>
            <a:gdLst/>
            <a:ahLst/>
            <a:cxnLst/>
            <a:rect l="l" t="t" r="r" b="b"/>
            <a:pathLst>
              <a:path w="9791700" h="9525">
                <a:moveTo>
                  <a:pt x="0" y="0"/>
                </a:moveTo>
                <a:lnTo>
                  <a:pt x="97917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886206" y="5615940"/>
            <a:ext cx="117221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结论：低质量输入下成功率下降符合预期，但系统仍能稳定输出可展示模型，误差保持在可说明范围内。</a:t>
            </a:r>
            <a:endParaRPr lang="zh-CN" sz="180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60" name="Line 6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14/18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1095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PERFORMANCE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实验结果二：耗时与显存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314450"/>
            <a:ext cx="5219700" cy="3676650"/>
          </a:xfrm>
          <a:custGeom>
            <a:avLst/>
            <a:gdLst/>
            <a:ahLst/>
            <a:cxnLst/>
            <a:rect l="l" t="t" r="r" b="b"/>
            <a:pathLst>
              <a:path w="5219700" h="3676650">
                <a:moveTo>
                  <a:pt x="57150" y="0"/>
                </a:moveTo>
                <a:lnTo>
                  <a:pt x="5162550" y="0"/>
                </a:lnTo>
                <a:cubicBezTo>
                  <a:pt x="5194113" y="0"/>
                  <a:pt x="5219700" y="25587"/>
                  <a:pt x="5219700" y="57150"/>
                </a:cubicBezTo>
                <a:lnTo>
                  <a:pt x="5219700" y="3619500"/>
                </a:lnTo>
                <a:cubicBezTo>
                  <a:pt x="5219700" y="3651063"/>
                  <a:pt x="5194113" y="3676650"/>
                  <a:pt x="5162550" y="3676650"/>
                </a:cubicBezTo>
                <a:lnTo>
                  <a:pt x="57150" y="3676650"/>
                </a:lnTo>
                <a:cubicBezTo>
                  <a:pt x="25587" y="3676650"/>
                  <a:pt x="0" y="3651063"/>
                  <a:pt x="0" y="3619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85444" y="14849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端到端耗时</a:t>
            </a:r>
            <a:endParaRPr lang="zh-CN" sz="19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607" y="1924050"/>
            <a:ext cx="4349782" cy="26098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83920" y="4576762"/>
            <a:ext cx="286931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24 图：495s → 211s</a:t>
            </a:r>
            <a:endParaRPr lang="zh-CN" sz="22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362700" y="1314450"/>
            <a:ext cx="5219700" cy="3676650"/>
          </a:xfrm>
          <a:custGeom>
            <a:avLst/>
            <a:gdLst/>
            <a:ahLst/>
            <a:cxnLst/>
            <a:rect l="l" t="t" r="r" b="b"/>
            <a:pathLst>
              <a:path w="5219700" h="3676650">
                <a:moveTo>
                  <a:pt x="57150" y="0"/>
                </a:moveTo>
                <a:lnTo>
                  <a:pt x="5162550" y="0"/>
                </a:lnTo>
                <a:cubicBezTo>
                  <a:pt x="5194113" y="0"/>
                  <a:pt x="5219700" y="25587"/>
                  <a:pt x="5219700" y="57150"/>
                </a:cubicBezTo>
                <a:lnTo>
                  <a:pt x="5219700" y="3619500"/>
                </a:lnTo>
                <a:cubicBezTo>
                  <a:pt x="5219700" y="3651063"/>
                  <a:pt x="5194113" y="3676650"/>
                  <a:pt x="5162550" y="3676650"/>
                </a:cubicBezTo>
                <a:lnTo>
                  <a:pt x="57150" y="3676650"/>
                </a:lnTo>
                <a:cubicBezTo>
                  <a:pt x="25587" y="3676650"/>
                  <a:pt x="0" y="3651063"/>
                  <a:pt x="0" y="3619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638544" y="14849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峰值显存</a:t>
            </a:r>
            <a:endParaRPr lang="zh-CN" sz="19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707" y="1924050"/>
            <a:ext cx="4349782" cy="26098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637020" y="4576762"/>
            <a:ext cx="35849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24 图：13.6GB → 7.9GB</a:t>
            </a:r>
            <a:endParaRPr lang="zh-CN" sz="225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09600" y="5391150"/>
            <a:ext cx="10972800" cy="495300"/>
          </a:xfrm>
          <a:custGeom>
            <a:avLst/>
            <a:gdLst/>
            <a:ahLst/>
            <a:cxnLst/>
            <a:rect l="l" t="t" r="r" b="b"/>
            <a:pathLst>
              <a:path w="10972800" h="495300">
                <a:moveTo>
                  <a:pt x="57150" y="0"/>
                </a:moveTo>
                <a:lnTo>
                  <a:pt x="10915650" y="0"/>
                </a:lnTo>
                <a:cubicBezTo>
                  <a:pt x="10947213" y="0"/>
                  <a:pt x="10972800" y="25587"/>
                  <a:pt x="10972800" y="57150"/>
                </a:cubicBezTo>
                <a:lnTo>
                  <a:pt x="10972800" y="438150"/>
                </a:lnTo>
                <a:cubicBezTo>
                  <a:pt x="10972800" y="469713"/>
                  <a:pt x="10947213" y="495300"/>
                  <a:pt x="109156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6587" y="5519261"/>
            <a:ext cx="918923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36 图场景下，优化后显存从 18.9GB 降到 9.6GB，使普通 GPU 更容易完成流程。</a:t>
            </a:r>
            <a:endParaRPr lang="zh-CN" sz="172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17" name="Line 1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15/18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hecker/>
      </p:transition>
    </mc:Choice>
    <mc:Fallback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742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ABLATION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消融实验：哪些改动最有贡献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352550"/>
            <a:ext cx="5448300" cy="4059555"/>
          </a:xfrm>
          <a:custGeom>
            <a:avLst/>
            <a:gdLst/>
            <a:ahLst/>
            <a:cxnLst/>
            <a:rect l="l" t="t" r="r" b="b"/>
            <a:pathLst>
              <a:path w="5448300" h="3695700">
                <a:moveTo>
                  <a:pt x="57150" y="0"/>
                </a:moveTo>
                <a:lnTo>
                  <a:pt x="5391150" y="0"/>
                </a:lnTo>
                <a:cubicBezTo>
                  <a:pt x="5422713" y="0"/>
                  <a:pt x="5448300" y="25587"/>
                  <a:pt x="5448300" y="57150"/>
                </a:cubicBezTo>
                <a:lnTo>
                  <a:pt x="5448300" y="3638550"/>
                </a:lnTo>
                <a:cubicBezTo>
                  <a:pt x="5448300" y="3670113"/>
                  <a:pt x="5422713" y="3695700"/>
                  <a:pt x="5391150" y="3695700"/>
                </a:cubicBezTo>
                <a:lnTo>
                  <a:pt x="57150" y="3695700"/>
                </a:lnTo>
                <a:cubicBezTo>
                  <a:pt x="25587" y="3695700"/>
                  <a:pt x="0" y="3670113"/>
                  <a:pt x="0" y="3638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66875"/>
            <a:ext cx="4953000" cy="3436620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6572250" y="1352550"/>
            <a:ext cx="5010150" cy="4081780"/>
          </a:xfrm>
          <a:custGeom>
            <a:avLst/>
            <a:gdLst/>
            <a:ahLst/>
            <a:cxnLst/>
            <a:rect l="l" t="t" r="r" b="b"/>
            <a:pathLst>
              <a:path w="5010150" h="3695700">
                <a:moveTo>
                  <a:pt x="57150" y="0"/>
                </a:moveTo>
                <a:lnTo>
                  <a:pt x="4953000" y="0"/>
                </a:lnTo>
                <a:cubicBezTo>
                  <a:pt x="4984563" y="0"/>
                  <a:pt x="5010150" y="25587"/>
                  <a:pt x="5010150" y="57150"/>
                </a:cubicBezTo>
                <a:lnTo>
                  <a:pt x="5010150" y="3638550"/>
                </a:lnTo>
                <a:cubicBezTo>
                  <a:pt x="5010150" y="3670113"/>
                  <a:pt x="4984563" y="3695700"/>
                  <a:pt x="4953000" y="3695700"/>
                </a:cubicBezTo>
                <a:lnTo>
                  <a:pt x="57150" y="3695700"/>
                </a:lnTo>
                <a:cubicBezTo>
                  <a:pt x="25587" y="3695700"/>
                  <a:pt x="0" y="3670113"/>
                  <a:pt x="0" y="3638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847332" y="152590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贡献矩阵</a:t>
            </a:r>
            <a:endParaRPr lang="zh-CN" sz="210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858000" y="215265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41261" y="2275046"/>
            <a:ext cx="113238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anchorlocal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851392" y="228314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规模扩展贡献最大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858000" y="266700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041261" y="2789396"/>
            <a:ext cx="146473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0A6A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lite_robust_v1</a:t>
            </a:r>
            <a:endParaRPr lang="en-US" sz="1420" b="1" dirty="0">
              <a:solidFill>
                <a:srgbClr val="00A6A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51392" y="279749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默认主方案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858000" y="318135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41261" y="3303746"/>
            <a:ext cx="408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324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AMP</a:t>
            </a:r>
            <a:endParaRPr lang="en-US" sz="1420" b="1" dirty="0">
              <a:solidFill>
                <a:srgbClr val="17324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1392" y="33118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降低显存并提升吞吐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6858000" y="369570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41261" y="3818096"/>
            <a:ext cx="11046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324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OOM retry</a:t>
            </a:r>
            <a:endParaRPr lang="en-US" sz="1420" b="1" dirty="0">
              <a:solidFill>
                <a:srgbClr val="17324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851392" y="382619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失败恢复能力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858000" y="421005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041261" y="4332446"/>
            <a:ext cx="140844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324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GO early-stop</a:t>
            </a:r>
            <a:endParaRPr lang="en-US" sz="1420" b="1" dirty="0">
              <a:solidFill>
                <a:srgbClr val="17324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851392" y="43405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减少无效迭代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6858000" y="4724400"/>
            <a:ext cx="4267200" cy="419100"/>
          </a:xfrm>
          <a:custGeom>
            <a:avLst/>
            <a:gdLst/>
            <a:ahLst/>
            <a:cxnLst/>
            <a:rect l="l" t="t" r="r" b="b"/>
            <a:pathLst>
              <a:path w="4267200" h="419100">
                <a:moveTo>
                  <a:pt x="38100" y="0"/>
                </a:moveTo>
                <a:lnTo>
                  <a:pt x="4229100" y="0"/>
                </a:lnTo>
                <a:cubicBezTo>
                  <a:pt x="4250142" y="0"/>
                  <a:pt x="4267200" y="17058"/>
                  <a:pt x="4267200" y="38100"/>
                </a:cubicBezTo>
                <a:lnTo>
                  <a:pt x="4267200" y="381000"/>
                </a:lnTo>
                <a:cubicBezTo>
                  <a:pt x="4267200" y="402042"/>
                  <a:pt x="4250142" y="419100"/>
                  <a:pt x="42291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AF1F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41261" y="4846796"/>
            <a:ext cx="158559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7324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quality adaptive</a:t>
            </a:r>
            <a:endParaRPr lang="en-US" sz="1420" b="1" dirty="0">
              <a:solidFill>
                <a:srgbClr val="17324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851392" y="48548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低质量输入稳定性</a:t>
            </a:r>
            <a:endParaRPr lang="zh-CN" sz="135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054352" y="5590381"/>
            <a:ext cx="860035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主结论：anchorlocal + lite_robust_v1 是主方案，其他机制共同保证稳定性。</a:t>
            </a:r>
            <a:endParaRPr lang="zh-CN" sz="172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30" name="Line 3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16/18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4360" y="335756"/>
            <a:ext cx="10988040" cy="746284"/>
            <a:chOff x="594360" y="335756"/>
            <a:chExt cx="10988040" cy="74628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448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DEMO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现场演示与复现路径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609600" y="1314450"/>
            <a:ext cx="4914900" cy="3829050"/>
          </a:xfrm>
          <a:custGeom>
            <a:avLst/>
            <a:gdLst/>
            <a:ahLst/>
            <a:cxnLst/>
            <a:rect l="l" t="t" r="r" b="b"/>
            <a:pathLst>
              <a:path w="4914900" h="3829050">
                <a:moveTo>
                  <a:pt x="57150" y="0"/>
                </a:moveTo>
                <a:lnTo>
                  <a:pt x="4857750" y="0"/>
                </a:lnTo>
                <a:cubicBezTo>
                  <a:pt x="4889313" y="0"/>
                  <a:pt x="4914900" y="25587"/>
                  <a:pt x="4914900" y="57150"/>
                </a:cubicBezTo>
                <a:lnTo>
                  <a:pt x="4914900" y="3771900"/>
                </a:lnTo>
                <a:cubicBezTo>
                  <a:pt x="4914900" y="3803463"/>
                  <a:pt x="4889313" y="3829050"/>
                  <a:pt x="4857750" y="3829050"/>
                </a:cubicBezTo>
                <a:lnTo>
                  <a:pt x="57150" y="3829050"/>
                </a:lnTo>
                <a:cubicBezTo>
                  <a:pt x="25587" y="3829050"/>
                  <a:pt x="0" y="3803463"/>
                  <a:pt x="0" y="3771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7324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964406" y="1704022"/>
            <a:ext cx="283369" cy="303371"/>
          </a:xfrm>
          <a:custGeom>
            <a:avLst/>
            <a:gdLst/>
            <a:ahLst/>
            <a:cxnLst/>
            <a:rect l="l" t="t" r="r" b="b"/>
            <a:pathLst>
              <a:path w="283369" h="303371">
                <a:moveTo>
                  <a:pt x="100012" y="270034"/>
                </a:moveTo>
                <a:cubicBezTo>
                  <a:pt x="28337" y="293370"/>
                  <a:pt x="28337" y="228362"/>
                  <a:pt x="0" y="220027"/>
                </a:cubicBezTo>
                <a:moveTo>
                  <a:pt x="200025" y="303371"/>
                </a:moveTo>
                <a:lnTo>
                  <a:pt x="200025" y="245031"/>
                </a:lnTo>
                <a:cubicBezTo>
                  <a:pt x="200025" y="228362"/>
                  <a:pt x="201692" y="221694"/>
                  <a:pt x="191691" y="211693"/>
                </a:cubicBezTo>
                <a:cubicBezTo>
                  <a:pt x="238363" y="206692"/>
                  <a:pt x="283369" y="188357"/>
                  <a:pt x="283369" y="111681"/>
                </a:cubicBezTo>
                <a:cubicBezTo>
                  <a:pt x="283348" y="91761"/>
                  <a:pt x="275577" y="72631"/>
                  <a:pt x="261699" y="58341"/>
                </a:cubicBezTo>
                <a:cubicBezTo>
                  <a:pt x="268208" y="41038"/>
                  <a:pt x="267609" y="21863"/>
                  <a:pt x="260033" y="5001"/>
                </a:cubicBezTo>
                <a:cubicBezTo>
                  <a:pt x="260033" y="5001"/>
                  <a:pt x="241697" y="0"/>
                  <a:pt x="201692" y="26670"/>
                </a:cubicBezTo>
                <a:cubicBezTo>
                  <a:pt x="167808" y="17845"/>
                  <a:pt x="132229" y="17845"/>
                  <a:pt x="98346" y="26670"/>
                </a:cubicBezTo>
                <a:cubicBezTo>
                  <a:pt x="58341" y="0"/>
                  <a:pt x="40005" y="5001"/>
                  <a:pt x="40005" y="5001"/>
                </a:cubicBezTo>
                <a:cubicBezTo>
                  <a:pt x="32429" y="21863"/>
                  <a:pt x="31830" y="41038"/>
                  <a:pt x="38338" y="58341"/>
                </a:cubicBezTo>
                <a:cubicBezTo>
                  <a:pt x="24461" y="72631"/>
                  <a:pt x="16689" y="91761"/>
                  <a:pt x="16669" y="111681"/>
                </a:cubicBezTo>
                <a:cubicBezTo>
                  <a:pt x="16669" y="188357"/>
                  <a:pt x="61674" y="206692"/>
                  <a:pt x="108347" y="211693"/>
                </a:cubicBezTo>
                <a:cubicBezTo>
                  <a:pt x="98346" y="221694"/>
                  <a:pt x="98346" y="231696"/>
                  <a:pt x="100012" y="245031"/>
                </a:cubicBezTo>
                <a:lnTo>
                  <a:pt x="100012" y="303371"/>
                </a:lnTo>
              </a:path>
            </a:pathLst>
          </a:custGeom>
          <a:noFill/>
          <a:ln w="19050">
            <a:solidFill>
              <a:srgbClr val="F2B84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436370" y="1709738"/>
            <a:ext cx="161305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双入口复现</a:t>
            </a:r>
            <a:endParaRPr lang="zh-CN" sz="225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7923" y="2415064"/>
            <a:ext cx="41151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demo.py --weights checkpoints/best.pth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7923" y="2649855"/>
            <a:ext cx="28106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--runtime_profile lite_robust_v1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7923" y="2884646"/>
            <a:ext cx="3694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--server_name 0.0.0.0 --server_port 7860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7923" y="3354229"/>
            <a:ext cx="34286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inference_global_optimization.py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07923" y="3589020"/>
            <a:ext cx="28106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--runtime_profile lite_robust_v1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07923" y="3823811"/>
            <a:ext cx="224428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--scene_graph_policy auto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7923" y="4058602"/>
            <a:ext cx="28021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--pair_batch_size 4 --oom_retry</a:t>
            </a:r>
            <a:endParaRPr lang="en-US" sz="1280" dirty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962650" y="1314450"/>
            <a:ext cx="5619750" cy="3829050"/>
          </a:xfrm>
          <a:custGeom>
            <a:avLst/>
            <a:gdLst/>
            <a:ahLst/>
            <a:cxnLst/>
            <a:rect l="l" t="t" r="r" b="b"/>
            <a:pathLst>
              <a:path w="5619750" h="3829050">
                <a:moveTo>
                  <a:pt x="57150" y="0"/>
                </a:moveTo>
                <a:lnTo>
                  <a:pt x="5562600" y="0"/>
                </a:lnTo>
                <a:cubicBezTo>
                  <a:pt x="5594163" y="0"/>
                  <a:pt x="5619750" y="25587"/>
                  <a:pt x="5619750" y="57150"/>
                </a:cubicBezTo>
                <a:lnTo>
                  <a:pt x="5619750" y="3771900"/>
                </a:lnTo>
                <a:cubicBezTo>
                  <a:pt x="5619750" y="3803463"/>
                  <a:pt x="5594163" y="3829050"/>
                  <a:pt x="5562600" y="3829050"/>
                </a:cubicBezTo>
                <a:lnTo>
                  <a:pt x="57150" y="3829050"/>
                </a:lnTo>
                <a:cubicBezTo>
                  <a:pt x="25587" y="3829050"/>
                  <a:pt x="0" y="3803463"/>
                  <a:pt x="0" y="3771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1569339"/>
            <a:ext cx="5162550" cy="2671667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182868" y="4451032"/>
            <a:ext cx="391169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输出：scene.glb、日志、指标、截图</a:t>
            </a:r>
            <a:endParaRPr lang="zh-CN" sz="16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84392" y="4788218"/>
            <a:ext cx="522732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环境：Python 3.12 / CUDA 12.4 / PyTorch 2.4.1 / Docker </a:t>
            </a:r>
            <a:r>
              <a:rPr lang="zh-CN" sz="1350" b="1" dirty="0">
                <a:solidFill>
                  <a:srgbClr val="5C6B7A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一键部署</a:t>
            </a:r>
            <a:endParaRPr lang="zh-CN" sz="1350" b="1" dirty="0">
              <a:solidFill>
                <a:srgbClr val="5C6B7A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17/18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4360" y="335756"/>
            <a:ext cx="10988040" cy="673894"/>
            <a:chOff x="594360" y="335756"/>
            <a:chExt cx="10988040" cy="673894"/>
          </a:xfrm>
        </p:grpSpPr>
        <p:sp>
          <p:nvSpPr>
            <p:cNvPr id="3" name="TextBox 3"/>
            <p:cNvSpPr txBox="1"/>
            <p:nvPr/>
          </p:nvSpPr>
          <p:spPr>
            <a:xfrm>
              <a:off x="603885" y="335756"/>
              <a:ext cx="725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0A6A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SUMMARY</a:t>
              </a:r>
              <a:endParaRPr lang="en-US" sz="1120" b="1" dirty="0">
                <a:solidFill>
                  <a:srgbClr val="00A6A6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495300"/>
              <a:ext cx="184785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总结</a:t>
              </a:r>
              <a:r>
                <a:rPr lang="en-US" alt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&amp;</a:t>
              </a:r>
              <a:r>
                <a:rPr lang="zh-CN" sz="30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分工</a:t>
              </a:r>
              <a:endParaRPr lang="zh-CN" sz="30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000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1430">
              <a:solidFill>
                <a:srgbClr val="C8D4E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314450"/>
            <a:ext cx="2552700" cy="1314450"/>
            <a:chOff x="609600" y="1314450"/>
            <a:chExt cx="2552700" cy="1314450"/>
          </a:xfrm>
        </p:grpSpPr>
        <p:sp>
          <p:nvSpPr>
            <p:cNvPr id="7" name="Freeform 7"/>
            <p:cNvSpPr/>
            <p:nvPr/>
          </p:nvSpPr>
          <p:spPr>
            <a:xfrm>
              <a:off x="609600" y="1314450"/>
              <a:ext cx="2552700" cy="1314450"/>
            </a:xfrm>
            <a:custGeom>
              <a:avLst/>
              <a:gdLst/>
              <a:ahLst/>
              <a:cxnLst/>
              <a:rect l="l" t="t" r="r" b="b"/>
              <a:pathLst>
                <a:path w="2552700" h="131445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257300"/>
                  </a:lnTo>
                  <a:cubicBezTo>
                    <a:pt x="2552700" y="1288863"/>
                    <a:pt x="2527113" y="1314450"/>
                    <a:pt x="2495550" y="1314450"/>
                  </a:cubicBezTo>
                  <a:lnTo>
                    <a:pt x="57150" y="1314450"/>
                  </a:lnTo>
                  <a:cubicBezTo>
                    <a:pt x="25587" y="1314450"/>
                    <a:pt x="0" y="1288863"/>
                    <a:pt x="0" y="1257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14388" y="1507136"/>
              <a:ext cx="200026" cy="224218"/>
              <a:chOff x="814388" y="1507136"/>
              <a:chExt cx="200026" cy="2242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14388" y="1507136"/>
                <a:ext cx="200026" cy="224218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24218">
                    <a:moveTo>
                      <a:pt x="200026" y="156653"/>
                    </a:moveTo>
                    <a:lnTo>
                      <a:pt x="200026" y="67553"/>
                    </a:lnTo>
                    <a:cubicBezTo>
                      <a:pt x="200012" y="59660"/>
                      <a:pt x="195771" y="52379"/>
                      <a:pt x="188913" y="48473"/>
                    </a:cubicBezTo>
                    <a:lnTo>
                      <a:pt x="111125" y="3934"/>
                    </a:lnTo>
                    <a:cubicBezTo>
                      <a:pt x="104239" y="0"/>
                      <a:pt x="95786" y="0"/>
                      <a:pt x="88900" y="3934"/>
                    </a:cubicBezTo>
                    <a:lnTo>
                      <a:pt x="11113" y="48473"/>
                    </a:lnTo>
                    <a:cubicBezTo>
                      <a:pt x="4234" y="52418"/>
                      <a:pt x="0" y="59696"/>
                      <a:pt x="0" y="67564"/>
                    </a:cubicBezTo>
                    <a:lnTo>
                      <a:pt x="0" y="156664"/>
                    </a:lnTo>
                    <a:cubicBezTo>
                      <a:pt x="0" y="164543"/>
                      <a:pt x="4234" y="171811"/>
                      <a:pt x="11113" y="175745"/>
                    </a:cubicBezTo>
                    <a:lnTo>
                      <a:pt x="88900" y="220284"/>
                    </a:lnTo>
                    <a:cubicBezTo>
                      <a:pt x="95786" y="224218"/>
                      <a:pt x="104239" y="224218"/>
                      <a:pt x="111125" y="220284"/>
                    </a:cubicBezTo>
                    <a:lnTo>
                      <a:pt x="188913" y="175745"/>
                    </a:lnTo>
                    <a:cubicBezTo>
                      <a:pt x="195792" y="171800"/>
                      <a:pt x="200026" y="164521"/>
                      <a:pt x="200026" y="156653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14400" y="16192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1111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4400" y="1563243"/>
                <a:ext cx="97012" cy="56007"/>
              </a:xfrm>
              <a:custGeom>
                <a:avLst/>
                <a:gdLst/>
                <a:ahLst/>
                <a:cxnLst/>
                <a:rect l="l" t="t" r="r" b="b"/>
                <a:pathLst>
                  <a:path w="97012" h="56007">
                    <a:moveTo>
                      <a:pt x="0" y="56007"/>
                    </a:moveTo>
                    <a:lnTo>
                      <a:pt x="97012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17388" y="1563243"/>
                <a:ext cx="97012" cy="56007"/>
              </a:xfrm>
              <a:custGeom>
                <a:avLst/>
                <a:gdLst/>
                <a:ahLst/>
                <a:cxnLst/>
                <a:rect l="l" t="t" r="r" b="b"/>
                <a:pathLst>
                  <a:path w="97012" h="56007">
                    <a:moveTo>
                      <a:pt x="0" y="0"/>
                    </a:moveTo>
                    <a:lnTo>
                      <a:pt x="97012" y="56007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52906" y="1491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完整系统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800100" y="193357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4565" y="1892935"/>
              <a:ext cx="200850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多图/视频输入到点云/GLB 输出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09950" y="1314450"/>
            <a:ext cx="2552700" cy="1314450"/>
            <a:chOff x="3409950" y="1314450"/>
            <a:chExt cx="2552700" cy="1314450"/>
          </a:xfrm>
        </p:grpSpPr>
        <p:sp>
          <p:nvSpPr>
            <p:cNvPr id="17" name="Freeform 17"/>
            <p:cNvSpPr/>
            <p:nvPr/>
          </p:nvSpPr>
          <p:spPr>
            <a:xfrm>
              <a:off x="3409950" y="1314450"/>
              <a:ext cx="2552700" cy="1314450"/>
            </a:xfrm>
            <a:custGeom>
              <a:avLst/>
              <a:gdLst/>
              <a:ahLst/>
              <a:cxnLst/>
              <a:rect l="l" t="t" r="r" b="b"/>
              <a:pathLst>
                <a:path w="2552700" h="131445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257300"/>
                  </a:lnTo>
                  <a:cubicBezTo>
                    <a:pt x="2552700" y="1288863"/>
                    <a:pt x="2527113" y="1314450"/>
                    <a:pt x="2495550" y="1314450"/>
                  </a:cubicBezTo>
                  <a:lnTo>
                    <a:pt x="57150" y="1314450"/>
                  </a:lnTo>
                  <a:cubicBezTo>
                    <a:pt x="25587" y="1314450"/>
                    <a:pt x="0" y="1288863"/>
                    <a:pt x="0" y="1257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614738" y="1530350"/>
              <a:ext cx="200025" cy="177801"/>
              <a:chOff x="3614738" y="1530350"/>
              <a:chExt cx="200025" cy="1778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614738" y="1574800"/>
                <a:ext cx="444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8900">
                    <a:moveTo>
                      <a:pt x="44450" y="0"/>
                    </a:moveTo>
                    <a:lnTo>
                      <a:pt x="0" y="44450"/>
                    </a:lnTo>
                    <a:lnTo>
                      <a:pt x="44450" y="8890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70313" y="1574800"/>
                <a:ext cx="444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8900">
                    <a:moveTo>
                      <a:pt x="0" y="0"/>
                    </a:moveTo>
                    <a:lnTo>
                      <a:pt x="44450" y="44450"/>
                    </a:ln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692525" y="1530350"/>
                <a:ext cx="4445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77801">
                    <a:moveTo>
                      <a:pt x="44450" y="0"/>
                    </a:moveTo>
                    <a:lnTo>
                      <a:pt x="0" y="177801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953256" y="1491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完整接入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00450" y="193357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64915" y="1892935"/>
              <a:ext cx="210756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profile、anchorlocal、AMP/OOM、早停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10300" y="1314450"/>
            <a:ext cx="2552700" cy="1314450"/>
            <a:chOff x="6210300" y="1314450"/>
            <a:chExt cx="2552700" cy="1314450"/>
          </a:xfrm>
        </p:grpSpPr>
        <p:sp>
          <p:nvSpPr>
            <p:cNvPr id="26" name="Freeform 26"/>
            <p:cNvSpPr/>
            <p:nvPr/>
          </p:nvSpPr>
          <p:spPr>
            <a:xfrm>
              <a:off x="6210300" y="1314450"/>
              <a:ext cx="2552700" cy="1314450"/>
            </a:xfrm>
            <a:custGeom>
              <a:avLst/>
              <a:gdLst/>
              <a:ahLst/>
              <a:cxnLst/>
              <a:rect l="l" t="t" r="r" b="b"/>
              <a:pathLst>
                <a:path w="2552700" h="131445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257300"/>
                  </a:lnTo>
                  <a:cubicBezTo>
                    <a:pt x="2552700" y="1288863"/>
                    <a:pt x="2527113" y="1314450"/>
                    <a:pt x="2495550" y="1314450"/>
                  </a:cubicBezTo>
                  <a:lnTo>
                    <a:pt x="57150" y="1314450"/>
                  </a:lnTo>
                  <a:cubicBezTo>
                    <a:pt x="25587" y="1314450"/>
                    <a:pt x="0" y="1288863"/>
                    <a:pt x="0" y="1257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15088" y="1530350"/>
              <a:ext cx="200025" cy="187326"/>
              <a:chOff x="6415088" y="1530350"/>
              <a:chExt cx="200025" cy="1873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15088" y="16192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48438" y="157480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81763" y="153035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26200" y="170815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753606" y="1491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完整验证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00800" y="193357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265" y="1892935"/>
              <a:ext cx="202946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功能、性能、鲁棒性、消融、部署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10650" y="1314450"/>
            <a:ext cx="2645537" cy="1314450"/>
            <a:chOff x="9010650" y="1314450"/>
            <a:chExt cx="2645537" cy="1314450"/>
          </a:xfrm>
        </p:grpSpPr>
        <p:sp>
          <p:nvSpPr>
            <p:cNvPr id="36" name="Freeform 36"/>
            <p:cNvSpPr/>
            <p:nvPr/>
          </p:nvSpPr>
          <p:spPr>
            <a:xfrm>
              <a:off x="9010650" y="1314450"/>
              <a:ext cx="2552700" cy="1314450"/>
            </a:xfrm>
            <a:custGeom>
              <a:avLst/>
              <a:gdLst/>
              <a:ahLst/>
              <a:cxnLst/>
              <a:rect l="l" t="t" r="r" b="b"/>
              <a:pathLst>
                <a:path w="2552700" h="1314450">
                  <a:moveTo>
                    <a:pt x="57150" y="0"/>
                  </a:moveTo>
                  <a:lnTo>
                    <a:pt x="2495550" y="0"/>
                  </a:lnTo>
                  <a:cubicBezTo>
                    <a:pt x="2527113" y="0"/>
                    <a:pt x="2552700" y="25587"/>
                    <a:pt x="2552700" y="57150"/>
                  </a:cubicBezTo>
                  <a:lnTo>
                    <a:pt x="2552700" y="1257300"/>
                  </a:lnTo>
                  <a:cubicBezTo>
                    <a:pt x="2552700" y="1288863"/>
                    <a:pt x="2527113" y="1314450"/>
                    <a:pt x="2495550" y="1314450"/>
                  </a:cubicBezTo>
                  <a:lnTo>
                    <a:pt x="57150" y="1314450"/>
                  </a:lnTo>
                  <a:cubicBezTo>
                    <a:pt x="25587" y="1314450"/>
                    <a:pt x="0" y="1288863"/>
                    <a:pt x="0" y="1257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C8D4E0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9226550" y="1530350"/>
              <a:ext cx="177801" cy="188913"/>
              <a:chOff x="9226550" y="1530350"/>
              <a:chExt cx="177801" cy="18891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226550" y="1674813"/>
                <a:ext cx="177801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44450">
                    <a:moveTo>
                      <a:pt x="0" y="0"/>
                    </a:moveTo>
                    <a:lnTo>
                      <a:pt x="0" y="22225"/>
                    </a:lnTo>
                    <a:cubicBezTo>
                      <a:pt x="0" y="34500"/>
                      <a:pt x="9950" y="44450"/>
                      <a:pt x="22225" y="44450"/>
                    </a:cubicBezTo>
                    <a:lnTo>
                      <a:pt x="155575" y="44450"/>
                    </a:lnTo>
                    <a:cubicBezTo>
                      <a:pt x="167850" y="44450"/>
                      <a:pt x="177801" y="34500"/>
                      <a:pt x="177801" y="2222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259888" y="1608138"/>
                <a:ext cx="1111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5563">
                    <a:moveTo>
                      <a:pt x="0" y="0"/>
                    </a:moveTo>
                    <a:lnTo>
                      <a:pt x="55563" y="55563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15450" y="1530350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553956" y="1491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完整复现</a:t>
              </a:r>
              <a:endParaRPr lang="zh-CN" sz="18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9201150" y="1933575"/>
              <a:ext cx="76200" cy="76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71457" y="1892935"/>
              <a:ext cx="228473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README、command.txt、Docker、run.ps1</a:t>
              </a:r>
              <a:endParaRPr lang="zh-CN" sz="135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45" name="Freeform 45"/>
          <p:cNvSpPr/>
          <p:nvPr/>
        </p:nvSpPr>
        <p:spPr>
          <a:xfrm>
            <a:off x="2973070" y="2935605"/>
            <a:ext cx="6191250" cy="2758440"/>
          </a:xfrm>
          <a:custGeom>
            <a:avLst/>
            <a:gdLst/>
            <a:ahLst/>
            <a:cxnLst/>
            <a:rect l="l" t="t" r="r" b="b"/>
            <a:pathLst>
              <a:path w="6191250" h="2190750">
                <a:moveTo>
                  <a:pt x="57150" y="0"/>
                </a:moveTo>
                <a:lnTo>
                  <a:pt x="6134100" y="0"/>
                </a:lnTo>
                <a:cubicBezTo>
                  <a:pt x="6165663" y="0"/>
                  <a:pt x="6191250" y="25587"/>
                  <a:pt x="6191250" y="57150"/>
                </a:cubicBezTo>
                <a:lnTo>
                  <a:pt x="6191250" y="2133600"/>
                </a:lnTo>
                <a:cubicBezTo>
                  <a:pt x="6191250" y="2165163"/>
                  <a:pt x="6165663" y="2190750"/>
                  <a:pt x="6134100" y="2190750"/>
                </a:cubicBezTo>
                <a:lnTo>
                  <a:pt x="57150" y="2190750"/>
                </a:lnTo>
                <a:cubicBezTo>
                  <a:pt x="25587" y="2190750"/>
                  <a:pt x="0" y="2165163"/>
                  <a:pt x="0" y="2133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8D4E0"/>
            </a:solidFill>
          </a:ln>
        </p:spPr>
      </p:sp>
      <p:grpSp>
        <p:nvGrpSpPr>
          <p:cNvPr id="50" name="Group 50"/>
          <p:cNvGrpSpPr/>
          <p:nvPr/>
        </p:nvGrpSpPr>
        <p:grpSpPr>
          <a:xfrm>
            <a:off x="3299301" y="3280886"/>
            <a:ext cx="242888" cy="242889"/>
            <a:chOff x="935831" y="3374231"/>
            <a:chExt cx="242888" cy="242889"/>
          </a:xfrm>
        </p:grpSpPr>
        <p:sp>
          <p:nvSpPr>
            <p:cNvPr id="46" name="Freeform 46"/>
            <p:cNvSpPr/>
            <p:nvPr/>
          </p:nvSpPr>
          <p:spPr>
            <a:xfrm>
              <a:off x="962819" y="3374231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0" y="53975"/>
                  </a:moveTo>
                  <a:cubicBezTo>
                    <a:pt x="0" y="83785"/>
                    <a:pt x="24165" y="107950"/>
                    <a:pt x="53975" y="107950"/>
                  </a:cubicBezTo>
                  <a:cubicBezTo>
                    <a:pt x="83785" y="107950"/>
                    <a:pt x="107950" y="83785"/>
                    <a:pt x="107950" y="53975"/>
                  </a:cubicBezTo>
                  <a:cubicBezTo>
                    <a:pt x="107950" y="24165"/>
                    <a:pt x="83785" y="0"/>
                    <a:pt x="53975" y="0"/>
                  </a:cubicBezTo>
                  <a:cubicBezTo>
                    <a:pt x="24165" y="0"/>
                    <a:pt x="0" y="24165"/>
                    <a:pt x="0" y="53975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35831" y="3536157"/>
              <a:ext cx="161925" cy="80963"/>
            </a:xfrm>
            <a:custGeom>
              <a:avLst/>
              <a:gdLst/>
              <a:ahLst/>
              <a:cxnLst/>
              <a:rect l="l" t="t" r="r" b="b"/>
              <a:pathLst>
                <a:path w="161925" h="80963">
                  <a:moveTo>
                    <a:pt x="0" y="80963"/>
                  </a:moveTo>
                  <a:lnTo>
                    <a:pt x="0" y="53975"/>
                  </a:lnTo>
                  <a:cubicBezTo>
                    <a:pt x="0" y="24165"/>
                    <a:pt x="24165" y="0"/>
                    <a:pt x="53975" y="0"/>
                  </a:cubicBezTo>
                  <a:lnTo>
                    <a:pt x="107950" y="0"/>
                  </a:lnTo>
                  <a:cubicBezTo>
                    <a:pt x="137760" y="0"/>
                    <a:pt x="161925" y="24165"/>
                    <a:pt x="161925" y="53975"/>
                  </a:cubicBezTo>
                  <a:lnTo>
                    <a:pt x="161925" y="80963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11251" y="3375986"/>
              <a:ext cx="40587" cy="104577"/>
            </a:xfrm>
            <a:custGeom>
              <a:avLst/>
              <a:gdLst/>
              <a:ahLst/>
              <a:cxnLst/>
              <a:rect l="l" t="t" r="r" b="b"/>
              <a:pathLst>
                <a:path w="40587" h="104577">
                  <a:moveTo>
                    <a:pt x="0" y="0"/>
                  </a:moveTo>
                  <a:cubicBezTo>
                    <a:pt x="23883" y="6115"/>
                    <a:pt x="40587" y="27635"/>
                    <a:pt x="40587" y="52288"/>
                  </a:cubicBezTo>
                  <a:cubicBezTo>
                    <a:pt x="40587" y="76942"/>
                    <a:pt x="23883" y="98462"/>
                    <a:pt x="0" y="104577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138238" y="3538181"/>
              <a:ext cx="40481" cy="78939"/>
            </a:xfrm>
            <a:custGeom>
              <a:avLst/>
              <a:gdLst/>
              <a:ahLst/>
              <a:cxnLst/>
              <a:rect l="l" t="t" r="r" b="b"/>
              <a:pathLst>
                <a:path w="40481" h="78939">
                  <a:moveTo>
                    <a:pt x="40481" y="78939"/>
                  </a:moveTo>
                  <a:lnTo>
                    <a:pt x="40481" y="51951"/>
                  </a:lnTo>
                  <a:cubicBezTo>
                    <a:pt x="40340" y="27454"/>
                    <a:pt x="23720" y="6124"/>
                    <a:pt x="0" y="0"/>
                  </a:cubicBez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3705352" y="3261360"/>
            <a:ext cx="10668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团队分工</a:t>
            </a:r>
            <a:endParaRPr lang="zh-CN" sz="210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3258820" y="3983355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308350" y="4107180"/>
            <a:ext cx="571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马瀚鹏</a:t>
            </a:r>
            <a:endParaRPr lang="zh-CN" sz="150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451350" y="4107180"/>
            <a:ext cx="34290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系统架构、核心推理链路和关键策略实现</a:t>
            </a:r>
            <a:endParaRPr lang="zh-CN" altLang="en-US" sz="150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3258820" y="4383405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308350" y="4507230"/>
            <a:ext cx="571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肖纬杰</a:t>
            </a:r>
            <a:endParaRPr lang="zh-CN" sz="150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451350" y="4507230"/>
            <a:ext cx="2095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输入数据处理和质量评估</a:t>
            </a:r>
            <a:endParaRPr lang="zh-CN" altLang="en-US" sz="150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58" name="Line 58"/>
          <p:cNvSpPr/>
          <p:nvPr/>
        </p:nvSpPr>
        <p:spPr>
          <a:xfrm>
            <a:off x="3258820" y="4783455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8350" y="4907280"/>
            <a:ext cx="3810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金鑫</a:t>
            </a:r>
            <a:endParaRPr lang="zh-CN" sz="150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451350" y="4907280"/>
            <a:ext cx="19050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交互演示与结果可视化</a:t>
            </a:r>
            <a:endParaRPr lang="zh-CN" altLang="en-US" sz="150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61" name="Line 61"/>
          <p:cNvSpPr/>
          <p:nvPr/>
        </p:nvSpPr>
        <p:spPr>
          <a:xfrm>
            <a:off x="3258820" y="5183505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DDE7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3308350" y="5307330"/>
            <a:ext cx="571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A6A6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陈思蒙</a:t>
            </a:r>
            <a:endParaRPr lang="zh-CN" sz="1500" b="1" dirty="0">
              <a:solidFill>
                <a:srgbClr val="00A6A6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451350" y="5307330"/>
            <a:ext cx="26670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1B2430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环境复现、实验统计和报告整理</a:t>
            </a:r>
            <a:endParaRPr lang="zh-CN" altLang="en-US" sz="1500" dirty="0">
              <a:solidFill>
                <a:srgbClr val="1B2430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7437882" y="3202305"/>
            <a:ext cx="95631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预 Q&amp;A</a:t>
            </a:r>
            <a:endParaRPr lang="zh-CN" sz="2100" b="1" dirty="0">
              <a:solidFill>
                <a:srgbClr val="FFFFFF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594614" y="5803583"/>
            <a:ext cx="10697845" cy="29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一句话收束：这是一个基于 MV-DUSt3R 的工程优化</a:t>
            </a:r>
            <a:r>
              <a:rPr lang="zh-CN" sz="1950" b="1" dirty="0">
                <a:solidFill>
                  <a:srgbClr val="17324D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rPr>
              <a:t>项目，核心价值在可运行、可验证、可复现。</a:t>
            </a:r>
            <a:endParaRPr lang="zh-CN" sz="1950" b="1" dirty="0">
              <a:solidFill>
                <a:srgbClr val="17324D"/>
              </a:solidFill>
              <a:latin typeface="Segoe UI" panose="020B0502040204020203"/>
              <a:ea typeface="Microsoft YaHei UI" panose="020B0503020204020204" charset="-122"/>
              <a:cs typeface="Segoe UI" panose="020B0502040204020203"/>
            </a:endParaRPr>
          </a:p>
        </p:txBody>
      </p:sp>
      <p:grpSp>
        <p:nvGrpSpPr>
          <p:cNvPr id="78" name="Group 78"/>
          <p:cNvGrpSpPr/>
          <p:nvPr/>
        </p:nvGrpSpPr>
        <p:grpSpPr>
          <a:xfrm>
            <a:off x="603885" y="6229350"/>
            <a:ext cx="10984230" cy="365284"/>
            <a:chOff x="603885" y="6229350"/>
            <a:chExt cx="10984230" cy="365284"/>
          </a:xfrm>
        </p:grpSpPr>
        <p:sp>
          <p:nvSpPr>
            <p:cNvPr id="75" name="Line 75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7F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3885" y="6374606"/>
              <a:ext cx="3268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8A8"/>
                  </a:solidFill>
                  <a:latin typeface="Segoe UI" panose="020B0502040204020203"/>
                  <a:ea typeface="Microsoft YaHei UI" panose="020B0503020204020204" charset="-122"/>
                  <a:cs typeface="Segoe UI" panose="020B0502040204020203"/>
                </a:rPr>
                <a:t>Better-MV-DUSt3R | 进阶式挑战性综合项目 II</a:t>
              </a:r>
              <a:endParaRPr lang="zh-CN" sz="1120" dirty="0">
                <a:solidFill>
                  <a:srgbClr val="8A98A8"/>
                </a:solidFill>
                <a:latin typeface="Segoe UI" panose="020B0502040204020203"/>
                <a:ea typeface="Microsoft YaHei UI" panose="020B0503020204020204" charset="-122"/>
                <a:cs typeface="Segoe UI" panose="020B0502040204020203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60204" y="6374606"/>
              <a:ext cx="427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8A98A8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18/18</a:t>
              </a:r>
              <a:endParaRPr lang="en-US" sz="1120" dirty="0">
                <a:solidFill>
                  <a:srgbClr val="8A98A8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14:prism isInverted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7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谢谢聆听！</a:t>
            </a:r>
            <a:endParaRPr lang="zh-CN" altLang="en-US" sz="7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med" Requires="p14" p14:dur="750">
        <p15:prstTrans prst="airplane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4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5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6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7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8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9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0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1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2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3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4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5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6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7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8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19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0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1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2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3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4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5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6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7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8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29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0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1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2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3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4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5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6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7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8.xml><?xml version="1.0" encoding="utf-8"?>
<p:tagLst xmlns:p="http://schemas.openxmlformats.org/presentationml/2006/main">
  <p:tag name="KSO_WM_DIAGRAM_VIRTUALLY_FRAME" val="{&quot;height&quot;:298.5,&quot;left&quot;:48,&quot;top&quot;:142.5,&quot;width&quot;:864}"/>
</p:tagLst>
</file>

<file path=ppt/tags/tag39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0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1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2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3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4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5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6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7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8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49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0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1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2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3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4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5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6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7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8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59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0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1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2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3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4.xml><?xml version="1.0" encoding="utf-8"?>
<p:tagLst xmlns:p="http://schemas.openxmlformats.org/presentationml/2006/main">
  <p:tag name="KSO_WM_DIAGRAM_VIRTUALLY_FRAME" val="{&quot;height&quot;:134.62503937007878,&quot;left&quot;:27.96,&quot;top&quot;:160.95,&quot;width&quot;:935.4300000000001}"/>
</p:tagLst>
</file>

<file path=ppt/tags/tag65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66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67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68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69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0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1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2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3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4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5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6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7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8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79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0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1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2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3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4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5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6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7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8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89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0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1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2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3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4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5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6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7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8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99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0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1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2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3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4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5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6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7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8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09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0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1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2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3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4.xml><?xml version="1.0" encoding="utf-8"?>
<p:tagLst xmlns:p="http://schemas.openxmlformats.org/presentationml/2006/main">
  <p:tag name="KSO_WM_DIAGRAM_VIRTUALLY_FRAME" val="{&quot;height&quot;:303,&quot;left&quot;:54,&quot;top&quot;:112.5,&quot;width&quot;:210}"/>
</p:tagLst>
</file>

<file path=ppt/tags/tag115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16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17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18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19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0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1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2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3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4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5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6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7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8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29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30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31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32.xml><?xml version="1.0" encoding="utf-8"?>
<p:tagLst xmlns:p="http://schemas.openxmlformats.org/presentationml/2006/main">
  <p:tag name="KSO_WM_DIAGRAM_VIRTUALLY_FRAME" val="{&quot;height&quot;:262.5,&quot;left&quot;:87,&quot;top&quot;:138.75,&quot;width&quot;:234.71850393700788}"/>
</p:tagLst>
</file>

<file path=ppt/tags/tag133.xml><?xml version="1.0" encoding="utf-8"?>
<p:tagLst xmlns:p="http://schemas.openxmlformats.org/presentationml/2006/main">
  <p:tag name="KSO_WM_FIGMA_FLAG" val="#fgm#"/>
  <p:tag name="KSO_WM_LAYOUT_CHECK_HASH" val="81525c5d7b35515ba1cbd9e9826071bb902808a8"/>
  <p:tag name="KSO_WM_NEWLAYOUT_ID" val="slide_0e3763c640ea4c61"/>
</p:tagLst>
</file>

<file path=ppt/tags/tag134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4384</Words>
  <Application>WPS 演示</Application>
  <PresentationFormat>On-screen Show (16:9)</PresentationFormat>
  <Paragraphs>653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Arial</vt:lpstr>
      <vt:lpstr>Segoe UI</vt:lpstr>
      <vt:lpstr>Microsoft YaHei UI</vt:lpstr>
      <vt:lpstr>Consolas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飞狼</cp:lastModifiedBy>
  <cp:revision>13</cp:revision>
  <dcterms:created xsi:type="dcterms:W3CDTF">2026-06-29T02:31:00Z</dcterms:created>
  <dcterms:modified xsi:type="dcterms:W3CDTF">2026-07-01T17:24:46Z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F2EBBB8EBA474B728AE9EB91EF76E27A_12</vt:lpwstr>
  </property>
</Properties>
</file>